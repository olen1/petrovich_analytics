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8DB6C8-1CD0-481D-BF0D-E1EA620C3BA8}">
  <a:tblStyle styleId="{438DB6C8-1CD0-481D-BF0D-E1EA620C3B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«Петрович» — мобильное приложение для владельца автопарка. Главная особенность — чат-бот, который общается с владельцем, объясняет, что происходит с парком, и помогает разобраться. Мы не строим систему фрод-детекции: мы делаем удобное и понятное приложение поверх данных АвтоГРАФ. Дальше: боль клиента, ценность, чат-бот, сравнение с мобильными приложениями Wialon и AutoGRAPH.Mobile, метрики MVP и результаты первого спринта.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Результаты первого спринта. Сформулировали проблему, клиента, цель и метрики. Провели кабинетное исследование и сравнили мобильные приложения. Описали экраны и сценарии, обновили макеты: девять экранов, четыре вкладки и кликабельный прототип. Сделали Android-прототип с 7 экранами на реальном API АвтоГРАФ. По чат-боту сделаны четыре шага из семи: сквозной чат через наш сервер, данные парка, поиск проблем и хранилище решений владельца. Теперь Петрович отвечает по данным парка через пять инструментов. Важно: это сделано в ветках fleet/step-1…4, в main они ещё не влиты. Не сделано: проверка на реальной модели и её выбор. Это задачи второго спринта вместе с фоновой проверкой на сервере и письмами.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клиент — владелец парка на 10–50 машин. Он уже подключён к системе мониторинга АвтоГРАФ, но её отчётами не пользуется: они сложные, а нанимать аналитика дорого. Всё смотрит с телефона, но существующие мобильные приложения — это карта, треки и отчёты для диспетчера. Поэтому о сливах топлива, перерасходе и простоях он узнаёт поздно, когда деньги уже потеряны. Его главные вопросы простые: сколько потратили, сколько заработали и что не так.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мы предлагаем: «Петрович» — мобильное приложение с AI-помощником. Он сам следит за данными парка, коротко сообщает о проблемах и помогает с ними разобраться. Сравните: сейчас владелец узнаёт о сливе случайно через несколько дней — с Петровичем получает сообщение в течение 15 минут. Сейчас видит литры и графики — с Петровичем вывод одной фразой. Сейчас звонит в «Техноком» и ждёт аналитика — с Петровичем спрашивает и сразу получает ответ. Сейчас пересказывает ситуацию службе безопасности — с Петровичем отправляет доказательства одной кнопкой.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Главная особенность приложения — чат-бот. Владелец пишет или говорит голосом «Что у меня не так?» и получает короткий ответ: три главные проблемы и предложение разобраться. Петрович каждое утро присылает сводку, по кнопке «Разберись» объясняет ситуацию и показывает доказательства, помнит прошлые случаи по машине, сам добавляет виджеты на главный экран. Письма, звонки и отправка в службу безопасности — только после «Да» владельца. Петрович говорит коротко, по-деловому, без терминов и никого не обвиняет. Если данных нет — честно говорит об этом.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Коротко о кабинетных исследованиях. Первое: данные у владельцев есть, а пользы нет — отчётами не пользуются, вместо этого платят аутсорс-аналитикам. Второе: ассистента, который объясняет данные простым языком, в России нет; на Западе такие есть у Motive, Samsara и Geotab, но в России они не работают. Третье: ложные тревоги убивают доверие, уведомления просто отключают. Четвёртое: данные неидеальны — пропуски связи, молчащие датчики, поэтому приложение должно честно говорить, когда данных нет. Пятое: это персональные данные, ФИО водителей в AI-модель не передаём.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Сравнили мобильные приложения Wialon и AutoGRAPH.Mobile из App Store. Оба — инструменты диспетчера: список объектов, карта, треки, поездки, стоянки, заправки и сливы, отчёты. У Wialon рейтинг 4,7 при 2,7 тысячи оценок и свежие обновления, но пользователи пишут, что в России приложение перестало работать. У AutoGRAPH.Mobile — 2,9 при 105 оценках, последнее обновление в январе 2024 года, жалобы на карту и работу через мобильный интернет. Ни одно не объясняет данные простым языком, нет чата, голоса, сводки и действий вроде письма в службу безопасности.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Гипотезы, которые проверяем. Продуктовые: владелец понимает статус парка за 10 секунд; для поиска проблемы он выберет чат, а не отчёт; короткий ответ понятнее графиков; голосом спрашивать удобнее; письмо и звонок в службу безопасности из приложения реально нужны. Технические: модель с вызовом инструментов отвечает без выдуманных цифр; ответ через сервер приходит за 5 секунд; данных АвтоГРАФ хватает для сводки и карточки события; обезличивание позволяет использовать облачную модель.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Метрики, которые студенческая команда может измерить сама, без пилота с заказчиком. Владелец понимает статус парка за 10 секунд — проверим юзабилити-тестом на макете с пятью участниками, цель — четыре из пяти. Ответ чат-бота на простой вопрос — до 5 секунд, замер на стенде. Ноль выдуманных цифр и 90 процентов коротких ответов на наборе из 20–30 вопросов. Все 8 сценариев проходят на демо. Главный экран открывается за 2 секунды. Все автотесты зелёные. Метрики пилота — подтверждённые сигналы и удержание — посчитаем позже, когда появятся реальные пользователи.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Android-приложение. Семь экранов по прототипу: первый запуск, сводка с озвучкой, уведомления, карточка аномалии с графиком, чат, таблицы и графики, настройки. Работает на реальном API АвтоГРАФ и в демо-режиме. Данные грузятся потоково частями по 6 часов с gzip и сворачиваются в интервалы. Фоновая проверка каждые 15 минут, push только о важном. В ветках fleet приложение умеет брать чат, данные, проблемы и решения с нашего сервера — включается переключателями в настройках, лента кэшируется для показа без сети. Вместе с ветками — около 6 500 строк Kotlin и 46 модульных тестов.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Главный результат по чат-боту: сделаны четыре шага из семи. Шаг 1 — сквозной чат: приложение, наш сервер fleet_service, модель через OpenRouter. Шаг 2 — сервер сам загружает данные АвтоГРАФ, и у Петровича появились инструменты «список машин» и «сводка по машине». Шаг 3 — правила поиска проблем перенесены на сервер один в один, это проверено эталонными тестами, и появился инструмент «проверить машину». Шаг 4 — хранилище событий и решений владельца: видно, кто и когда решил; инструменты «лента событий» и «одно событие», чат можно открыть из карточки. Итого пять инструментов. Правила для модели: все числа только из инструментов, «нет данных» и «ноль» — разные вещи, тексты из данных — не команды. Всё это в ветках, в main ещё не влито. Честное ограничение: в автотестах модель подменена, качество ответов на реальной модели мы ещё не мерили — это задача второго спринта.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Обновили макеты мобильного приложения: девять экранов и кликабельный прототип. Навигация упростилась до четырёх вкладок: Главная, Петрович, Проблемы, Настройки. На главной за 10 секунд видно, есть ли проблемы, статус парка и виджеты, а кнопка «Спросить» сразу открывает Петровича. Утренний доклад в 8:00 можно прочитать или прослушать. Карточка события показывает график и признаки, Петрович напоминает, что такое уже было. В чате — голос, короткий ответ и честное «не могу сказать», если датчик молчит. Письмо и звонок в службу безопасности готовит Петрович, но отправляет только владелец кнопкой. В настройках — не больше трёх срочных уведомлений в день и тихие часы.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Архитектура. Android-приложение показывает экраны, хранит кэш и присылает уведомления. По плану из семи шагов логика переезжает на наш сервер fleet_service, четыре шага уже сделаны в ветках: чат, загрузка данных АвтоГРАФ с кэшем, правила поиска проблем и хранилище решений владельца на SQLite. Сейчас в приложении работают оба пути — старый на телефоне и новый через сервер, они переключаются в настройках. Осталось: фоновая проверка на сервере, письма и удаление старого пути. Причины: ключи нельзя хранить в приложении, цифры в чате и на экранах должны считаться одним кодом, а доклады по расписанию невозможны, пока всё живёт на телефоне.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Стек с обоснованием. Клиент — Kotlin и Jetpack Compose. Фоновые задачи — WorkManager. Сеть — Retrofit с потоковым разбором. Сервер — Python и FastAPI, решения владельца хранятся в SQLite через SQLAlchemy с миграциями Alembic; расчёты сервера сверены с приложением эталонными тестами. LLM — через OpenRouter с вызовом инструментов, числа считает код, модель только объясняет. Важный открытый вопрос: OpenRouter — это зарубежные модели, а в данных есть персональные данные водителей, поэтому нужно обезличивание или российская модель.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 втором спринте цель — чтобы Петрович отвечал владельцу по реальным данным и мы проверили это на людях. По продукту: юзабилити-тест на макете с пятью участниками, интервью с заказчиком про письма и звонок в службу безопасности, решение по рублям или литрам и набор из 20–30 тестовых вопросов. По серверу и чат-боту: влить ветки в main, фоновая проверка на сервере, письма в СБ только после «Да» владельца, выбор модели на тестовых вопросах и обезличивание данных. По приложению: главная и вкладки по новым макетам, вопрос «Что у меня не так?» и доклад в 8:00, голосовой ввод. Итог спринта проверяем метриками со слайда о метриках.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Команда: два фулстек-разработчика, фронтенд-разработчик, ML-инженер и аналитик.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pic>
        <p:nvPicPr>
          <p:cNvPr id="3" name="img 3" descr="Логотип Петрович"/>
          <p:cNvPicPr>
            <a:picLocks noChangeAspect="1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>
            <a:off x="777240" y="594360"/>
            <a:ext cx="777240" cy="77724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691640" y="7772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ПЕТРОВИЧ</a:t>
            </a:r>
          </a:p>
        </p:txBody>
      </p:sp>
      <p:sp>
        <p:nvSpPr>
          <p:cNvPr id="5" name="Заголовок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marL="0" indent="0" algn="l">
              <a:buNone/>
            </a:pPr>
            <a:r>
              <a:rPr lang="ru-RU" sz="36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«Петрович» — мобильное приложение</a:t>
            </a:r>
          </a:p>
          <a:p>
            <a:pPr marL="0" indent="0" algn="l">
              <a:buNone/>
            </a:pPr>
            <a:r>
              <a:rPr lang="ru-RU" sz="36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для владельца автопарка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0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Простое и понятное, с чат-ботом, который помогает разобраться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Итоги 1 спринта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Заказчик — «Техноком» · октябрь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Итоги 1 спринта</a:t>
            </a:r>
          </a:p>
        </p:txBody>
      </p:sp>
      <p:sp>
        <p:nvSpPr>
          <p:cNvPr id="4" name="box 4"/>
          <p:cNvSpPr/>
          <p:nvPr/>
        </p:nvSpPr>
        <p:spPr>
          <a:xfrm>
            <a:off x="777240" y="1371600"/>
            <a:ext cx="7680960" cy="57607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1371600"/>
            <a:ext cx="356616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Проблема, клиент, цель, метрики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526280" y="1371600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бизнес-требования к MVP</a:t>
            </a:r>
          </a:p>
        </p:txBody>
      </p:sp>
      <p:sp>
        <p:nvSpPr>
          <p:cNvPr id="7" name="box 7"/>
          <p:cNvSpPr/>
          <p:nvPr/>
        </p:nvSpPr>
        <p:spPr>
          <a:xfrm>
            <a:off x="6995160" y="150418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995160" y="150418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Сделано</a:t>
            </a:r>
          </a:p>
        </p:txBody>
      </p:sp>
      <p:sp>
        <p:nvSpPr>
          <p:cNvPr id="9" name="box 9"/>
          <p:cNvSpPr/>
          <p:nvPr/>
        </p:nvSpPr>
        <p:spPr>
          <a:xfrm>
            <a:off x="777240" y="2039112"/>
            <a:ext cx="7680960" cy="57607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60120" y="2039112"/>
            <a:ext cx="356616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Исследования и сравнение приложений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26280" y="2039112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desk research, Wialon, AutoGRAPH.Mobile</a:t>
            </a:r>
          </a:p>
        </p:txBody>
      </p:sp>
      <p:sp>
        <p:nvSpPr>
          <p:cNvPr id="12" name="box 12"/>
          <p:cNvSpPr/>
          <p:nvPr/>
        </p:nvSpPr>
        <p:spPr>
          <a:xfrm>
            <a:off x="6995160" y="217170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995160" y="217170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Сделано</a:t>
            </a:r>
          </a:p>
        </p:txBody>
      </p:sp>
      <p:sp>
        <p:nvSpPr>
          <p:cNvPr id="14" name="box 14"/>
          <p:cNvSpPr/>
          <p:nvPr/>
        </p:nvSpPr>
        <p:spPr>
          <a:xfrm>
            <a:off x="777240" y="2706624"/>
            <a:ext cx="7680960" cy="57607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960120" y="2706624"/>
            <a:ext cx="356616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Экраны: описание и 9 макетов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526280" y="2706624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кликабельный прототип, 4 вкладки</a:t>
            </a:r>
          </a:p>
        </p:txBody>
      </p:sp>
      <p:sp>
        <p:nvSpPr>
          <p:cNvPr id="17" name="box 17"/>
          <p:cNvSpPr/>
          <p:nvPr/>
        </p:nvSpPr>
        <p:spPr>
          <a:xfrm>
            <a:off x="6995160" y="283921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995160" y="283921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Сделано</a:t>
            </a:r>
          </a:p>
        </p:txBody>
      </p:sp>
      <p:sp>
        <p:nvSpPr>
          <p:cNvPr id="19" name="box 19"/>
          <p:cNvSpPr/>
          <p:nvPr/>
        </p:nvSpPr>
        <p:spPr>
          <a:xfrm>
            <a:off x="777240" y="3374136"/>
            <a:ext cx="7680960" cy="57607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960120" y="3374136"/>
            <a:ext cx="356616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Android-прототип: 7 экранов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526280" y="3374136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реальный API АвтоГРАФ + демо-режим</a:t>
            </a:r>
          </a:p>
        </p:txBody>
      </p:sp>
      <p:sp>
        <p:nvSpPr>
          <p:cNvPr id="22" name="box 22"/>
          <p:cNvSpPr/>
          <p:nvPr/>
        </p:nvSpPr>
        <p:spPr>
          <a:xfrm>
            <a:off x="6995160" y="35067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995160" y="350672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Сделано</a:t>
            </a:r>
          </a:p>
        </p:txBody>
      </p:sp>
      <p:sp>
        <p:nvSpPr>
          <p:cNvPr id="24" name="box 24"/>
          <p:cNvSpPr/>
          <p:nvPr/>
        </p:nvSpPr>
        <p:spPr>
          <a:xfrm>
            <a:off x="777240" y="4041648"/>
            <a:ext cx="7680960" cy="57607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60120" y="4041648"/>
            <a:ext cx="356616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Чат-бот: сквозной чат через сервер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526280" y="4041648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шаг 1 из 7 · ветка fleet/step-1</a:t>
            </a:r>
          </a:p>
        </p:txBody>
      </p:sp>
      <p:sp>
        <p:nvSpPr>
          <p:cNvPr id="27" name="box 27"/>
          <p:cNvSpPr/>
          <p:nvPr/>
        </p:nvSpPr>
        <p:spPr>
          <a:xfrm>
            <a:off x="6995160" y="417423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6995160" y="41742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Сделано</a:t>
            </a:r>
          </a:p>
        </p:txBody>
      </p:sp>
      <p:sp>
        <p:nvSpPr>
          <p:cNvPr id="29" name="box 29"/>
          <p:cNvSpPr/>
          <p:nvPr/>
        </p:nvSpPr>
        <p:spPr>
          <a:xfrm>
            <a:off x="777240" y="4709160"/>
            <a:ext cx="7680960" cy="57607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960120" y="4709160"/>
            <a:ext cx="356616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Чат-бот отвечает по данным парка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526280" y="4709160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шаги 2–4: данные, проблемы, решения · ветки fleet</a:t>
            </a:r>
          </a:p>
        </p:txBody>
      </p:sp>
      <p:sp>
        <p:nvSpPr>
          <p:cNvPr id="32" name="box 32"/>
          <p:cNvSpPr/>
          <p:nvPr/>
        </p:nvSpPr>
        <p:spPr>
          <a:xfrm>
            <a:off x="6995160" y="48417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6995160" y="484174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Сделано</a:t>
            </a:r>
          </a:p>
        </p:txBody>
      </p:sp>
      <p:sp>
        <p:nvSpPr>
          <p:cNvPr id="34" name="box 34"/>
          <p:cNvSpPr/>
          <p:nvPr/>
        </p:nvSpPr>
        <p:spPr>
          <a:xfrm>
            <a:off x="777240" y="5376672"/>
            <a:ext cx="7680960" cy="57607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960120" y="5376672"/>
            <a:ext cx="356616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Проверка на реальной LLM и выбор модели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4526280" y="5376672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в автотестах модель подменена</a:t>
            </a:r>
          </a:p>
        </p:txBody>
      </p:sp>
      <p:sp>
        <p:nvSpPr>
          <p:cNvPr id="37" name="box 37"/>
          <p:cNvSpPr/>
          <p:nvPr/>
        </p:nvSpPr>
        <p:spPr>
          <a:xfrm>
            <a:off x="6995160" y="550926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6995160" y="550926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C98A1B"/>
                </a:solidFill>
                <a:latin typeface="Arial"/>
                <a:ea typeface="Arial"/>
                <a:cs typeface="Arial"/>
              </a:rPr>
              <a:t>Спринт 2</a:t>
            </a:r>
          </a:p>
        </p:txBody>
      </p:sp>
      <p:sp>
        <p:nvSpPr>
          <p:cNvPr id="39" name="box 39"/>
          <p:cNvSpPr/>
          <p:nvPr/>
        </p:nvSpPr>
        <p:spPr>
          <a:xfrm>
            <a:off x="8686800" y="1371600"/>
            <a:ext cx="2697480" cy="4599432"/>
          </a:xfrm>
          <a:prstGeom prst="roundRect">
            <a:avLst>
              <a:gd name="adj" fmla="val 10169"/>
            </a:avLst>
          </a:prstGeom>
          <a:solidFill>
            <a:srgbClr val="2A2D34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8686800" y="1645920"/>
            <a:ext cx="2697480" cy="914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4600" b="1" dirty="0">
                <a:solidFill>
                  <a:srgbClr val="B8D9C5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686800" y="256032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задач сделано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915400" y="3200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B8D9C5"/>
                </a:solidFill>
                <a:latin typeface="Arial"/>
                <a:ea typeface="Arial"/>
                <a:cs typeface="Arial"/>
              </a:rPr>
              <a:t>Спринт 2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915400" y="3611880"/>
            <a:ext cx="2331720" cy="2240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171450" indent="-171450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Влить ветки fleet в main</a:t>
            </a:r>
          </a:p>
          <a:p>
            <a:pPr marL="171450" indent="-171450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Фоновая проверка на сервере</a:t>
            </a:r>
          </a:p>
          <a:p>
            <a:pPr marL="171450" indent="-171450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Письма в СБ после «Да»</a:t>
            </a:r>
          </a:p>
          <a:p>
            <a:pPr marL="171450" indent="-171450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 на макете, 5 участников</a:t>
            </a:r>
          </a:p>
          <a:p>
            <a:pPr marL="171450" indent="-171450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lang="ru-RU"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Выбор LLM на 20–30 вопросах</a:t>
            </a:r>
          </a:p>
        </p:txBody>
      </p:sp>
      <p:sp>
        <p:nvSpPr>
          <p:cNvPr id="44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github.com/ErmakovDenis/petrovich: main и ветки fleet/step-1…4 (07–08.10.2026), бизнес-требования, описание экранов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Боль клиента</a:t>
            </a:r>
          </a:p>
        </p:txBody>
      </p:sp>
      <p:sp>
        <p:nvSpPr>
          <p:cNvPr id="4" name="box 4"/>
          <p:cNvSpPr/>
          <p:nvPr/>
        </p:nvSpPr>
        <p:spPr>
          <a:xfrm>
            <a:off x="777240" y="1371600"/>
            <a:ext cx="3931920" cy="4663440"/>
          </a:xfrm>
          <a:prstGeom prst="roundRect">
            <a:avLst>
              <a:gd name="adj" fmla="val 6977"/>
            </a:avLst>
          </a:prstGeom>
          <a:solidFill>
            <a:srgbClr val="2A2D34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05840" y="1508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1" dirty="0">
                <a:solidFill>
                  <a:srgbClr val="B8D9C5"/>
                </a:solidFill>
                <a:latin typeface="Arial"/>
                <a:ea typeface="Arial"/>
                <a:cs typeface="Arial"/>
              </a:rPr>
              <a:t>КТО КЛИЕНТ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" y="182880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Владелец парка</a:t>
            </a:r>
          </a:p>
          <a:p>
            <a:pPr marL="0" indent="0" algn="l">
              <a:buNone/>
            </a:pPr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10–50 машин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05840" y="28803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300" b="0" dirty="0">
                <a:solidFill>
                  <a:srgbClr val="CDD2D7"/>
                </a:solidFill>
                <a:latin typeface="Arial"/>
                <a:ea typeface="Arial"/>
                <a:cs typeface="Arial"/>
              </a:rPr>
              <a:t>Подключён к АвтоГРАФ · смотрит всё с телефона · в отчётах разбираться не хочет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05840" y="38404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1" dirty="0">
                <a:solidFill>
                  <a:srgbClr val="B8D9C5"/>
                </a:solidFill>
                <a:latin typeface="Arial"/>
                <a:ea typeface="Arial"/>
                <a:cs typeface="Arial"/>
              </a:rPr>
              <a:t>Его вопросы: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05840" y="4160520"/>
            <a:ext cx="3474720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«Сколько потратили?»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«Сколько заработали?»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«Что у меня не так?»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983480" y="13716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D2453B"/>
                </a:solidFill>
                <a:latin typeface="Arial"/>
                <a:ea typeface="Arial"/>
                <a:cs typeface="Arial"/>
              </a:rPr>
              <a:t>Что болит</a:t>
            </a:r>
          </a:p>
        </p:txBody>
      </p:sp>
      <p:sp>
        <p:nvSpPr>
          <p:cNvPr id="11" name="box 11"/>
          <p:cNvSpPr/>
          <p:nvPr/>
        </p:nvSpPr>
        <p:spPr>
          <a:xfrm>
            <a:off x="4983480" y="1783080"/>
            <a:ext cx="6400800" cy="969264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212080" y="1874520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Отчёты сложные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12080" y="2221992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Литры и графики, из которых не следует, что делать. «Данные остаются просто цифрами»</a:t>
            </a:r>
          </a:p>
        </p:txBody>
      </p:sp>
      <p:sp>
        <p:nvSpPr>
          <p:cNvPr id="14" name="box 14"/>
          <p:cNvSpPr/>
          <p:nvPr/>
        </p:nvSpPr>
        <p:spPr>
          <a:xfrm>
            <a:off x="4983480" y="2862072"/>
            <a:ext cx="6400800" cy="969264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212080" y="2953512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Аналитик — дорого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212080" y="3300984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При 10–50 машинах держать человека для разбора отчётов невыгодно</a:t>
            </a:r>
          </a:p>
        </p:txBody>
      </p:sp>
      <p:sp>
        <p:nvSpPr>
          <p:cNvPr id="17" name="box 17"/>
          <p:cNvSpPr/>
          <p:nvPr/>
        </p:nvSpPr>
        <p:spPr>
          <a:xfrm>
            <a:off x="4983480" y="3941064"/>
            <a:ext cx="6400800" cy="969264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5212080" y="4032504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Мобильные приложения — для диспетчера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212080" y="437997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Карта, треки, отчёты; ответа «что не так» нет</a:t>
            </a:r>
          </a:p>
        </p:txBody>
      </p:sp>
      <p:sp>
        <p:nvSpPr>
          <p:cNvPr id="20" name="box 20"/>
          <p:cNvSpPr/>
          <p:nvPr/>
        </p:nvSpPr>
        <p:spPr>
          <a:xfrm>
            <a:off x="4983480" y="5020056"/>
            <a:ext cx="6400800" cy="969264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212080" y="5111496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Узнаёт поздно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212080" y="5458968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О сливах, перерасходе и простоях — через несколько дней, когда деньги уже потеряны</a:t>
            </a:r>
          </a:p>
        </p:txBody>
      </p:sp>
      <p:sp>
        <p:nvSpPr>
          <p:cNvPr id="23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Бизнес-требования к MVP (28.09.2026); Analiz/reserch.md; анализ App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Ценность: «Петрович» следит за парком и помогает</a:t>
            </a:r>
          </a:p>
        </p:txBody>
      </p:sp>
      <p:sp>
        <p:nvSpPr>
          <p:cNvPr id="4" name="box 4"/>
          <p:cNvSpPr/>
          <p:nvPr/>
        </p:nvSpPr>
        <p:spPr>
          <a:xfrm>
            <a:off x="777240" y="1371600"/>
            <a:ext cx="1060704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05840" y="1371600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Цель MVP:</a:t>
            </a:r>
            <a:r>
              <a:rPr lang="ru-RU" sz="16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 владелец за 10 секунд понимает, всё ли в порядке, какая проблема и что делать — и может сразу начать разбираться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24231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D2453B"/>
                </a:solidFill>
                <a:latin typeface="Arial"/>
                <a:ea typeface="Arial"/>
                <a:cs typeface="Arial"/>
              </a:rPr>
              <a:t>Как сейчас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60" y="24231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Как с «Петровичем»</a:t>
            </a:r>
          </a:p>
        </p:txBody>
      </p:sp>
      <p:sp>
        <p:nvSpPr>
          <p:cNvPr id="8" name="box 8"/>
          <p:cNvSpPr/>
          <p:nvPr/>
        </p:nvSpPr>
        <p:spPr>
          <a:xfrm>
            <a:off x="777240" y="2788920"/>
            <a:ext cx="5120640" cy="694944"/>
          </a:xfrm>
          <a:prstGeom prst="roundRect">
            <a:avLst>
              <a:gd name="adj" fmla="val 23684"/>
            </a:avLst>
          </a:prstGeom>
          <a:solidFill>
            <a:srgbClr val="FBE7E5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60120" y="2788920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Узнаёт о сливе случайно, через несколько дней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5943600" y="3136392"/>
            <a:ext cx="320040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11" name="box 11"/>
          <p:cNvSpPr/>
          <p:nvPr/>
        </p:nvSpPr>
        <p:spPr>
          <a:xfrm>
            <a:off x="6309360" y="2788920"/>
            <a:ext cx="5074920" cy="694944"/>
          </a:xfrm>
          <a:prstGeom prst="roundRect">
            <a:avLst>
              <a:gd name="adj" fmla="val 23684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492240" y="2788920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Получает сообщение в течение 15 минут</a:t>
            </a:r>
          </a:p>
        </p:txBody>
      </p:sp>
      <p:sp>
        <p:nvSpPr>
          <p:cNvPr id="13" name="box 13"/>
          <p:cNvSpPr/>
          <p:nvPr/>
        </p:nvSpPr>
        <p:spPr>
          <a:xfrm>
            <a:off x="777240" y="3593592"/>
            <a:ext cx="5120640" cy="694944"/>
          </a:xfrm>
          <a:prstGeom prst="roundRect">
            <a:avLst>
              <a:gd name="adj" fmla="val 23684"/>
            </a:avLst>
          </a:prstGeom>
          <a:solidFill>
            <a:srgbClr val="FBE7E5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960120" y="3593592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Видит литры и графики, которые не понимает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5943600" y="3941064"/>
            <a:ext cx="320040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16" name="box 16"/>
          <p:cNvSpPr/>
          <p:nvPr/>
        </p:nvSpPr>
        <p:spPr>
          <a:xfrm>
            <a:off x="6309360" y="3593592"/>
            <a:ext cx="5074920" cy="694944"/>
          </a:xfrm>
          <a:prstGeom prst="roundRect">
            <a:avLst>
              <a:gd name="adj" fmla="val 23684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492240" y="3593592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Видит вывод одной фразой</a:t>
            </a:r>
          </a:p>
        </p:txBody>
      </p:sp>
      <p:sp>
        <p:nvSpPr>
          <p:cNvPr id="18" name="box 18"/>
          <p:cNvSpPr/>
          <p:nvPr/>
        </p:nvSpPr>
        <p:spPr>
          <a:xfrm>
            <a:off x="777240" y="4398264"/>
            <a:ext cx="5120640" cy="694944"/>
          </a:xfrm>
          <a:prstGeom prst="roundRect">
            <a:avLst>
              <a:gd name="adj" fmla="val 23684"/>
            </a:avLst>
          </a:prstGeom>
          <a:solidFill>
            <a:srgbClr val="FBE7E5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960120" y="4398264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Звонит в «Техноком» и ждёт аналитика</a:t>
            </a:r>
          </a:p>
        </p:txBody>
      </p:sp>
      <p:cxnSp>
        <p:nvCxnSpPr>
          <p:cNvPr id="20" name="arrow 20"/>
          <p:cNvCxnSpPr/>
          <p:nvPr/>
        </p:nvCxnSpPr>
        <p:spPr>
          <a:xfrm>
            <a:off x="5943600" y="4745736"/>
            <a:ext cx="320040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21" name="box 21"/>
          <p:cNvSpPr/>
          <p:nvPr/>
        </p:nvSpPr>
        <p:spPr>
          <a:xfrm>
            <a:off x="6309360" y="4398264"/>
            <a:ext cx="5074920" cy="694944"/>
          </a:xfrm>
          <a:prstGeom prst="roundRect">
            <a:avLst>
              <a:gd name="adj" fmla="val 23684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492240" y="4398264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Спрашивает Петровича и сразу получает ответ</a:t>
            </a:r>
          </a:p>
        </p:txBody>
      </p:sp>
      <p:sp>
        <p:nvSpPr>
          <p:cNvPr id="23" name="box 23"/>
          <p:cNvSpPr/>
          <p:nvPr/>
        </p:nvSpPr>
        <p:spPr>
          <a:xfrm>
            <a:off x="777240" y="5202936"/>
            <a:ext cx="5120640" cy="694944"/>
          </a:xfrm>
          <a:prstGeom prst="roundRect">
            <a:avLst>
              <a:gd name="adj" fmla="val 23684"/>
            </a:avLst>
          </a:prstGeom>
          <a:solidFill>
            <a:srgbClr val="FBE7E5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60120" y="5202936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Пересказывает ситуацию СБ по телефону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5943600" y="5550408"/>
            <a:ext cx="320040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26" name="box 26"/>
          <p:cNvSpPr/>
          <p:nvPr/>
        </p:nvSpPr>
        <p:spPr>
          <a:xfrm>
            <a:off x="6309360" y="5202936"/>
            <a:ext cx="5074920" cy="694944"/>
          </a:xfrm>
          <a:prstGeom prst="roundRect">
            <a:avLst>
              <a:gd name="adj" fmla="val 23684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492240" y="5202936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Отправляет доказательства в СБ одной кнопкой</a:t>
            </a:r>
          </a:p>
        </p:txBody>
      </p:sp>
      <p:sp>
        <p:nvSpPr>
          <p:cNvPr id="28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Бизнес-требования к MVP, раздел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Чат-бот «Петрович»</a:t>
            </a:r>
          </a:p>
        </p:txBody>
      </p:sp>
      <p:sp>
        <p:nvSpPr>
          <p:cNvPr id="4" name="box 4"/>
          <p:cNvSpPr/>
          <p:nvPr/>
        </p:nvSpPr>
        <p:spPr>
          <a:xfrm>
            <a:off x="777240" y="1371600"/>
            <a:ext cx="484632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1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Диалог</a:t>
            </a:r>
          </a:p>
        </p:txBody>
      </p:sp>
      <p:sp>
        <p:nvSpPr>
          <p:cNvPr id="6" name="box 6"/>
          <p:cNvSpPr/>
          <p:nvPr/>
        </p:nvSpPr>
        <p:spPr>
          <a:xfrm>
            <a:off x="2926080" y="1783080"/>
            <a:ext cx="2514600" cy="457200"/>
          </a:xfrm>
          <a:prstGeom prst="roundRect">
            <a:avLst>
              <a:gd name="adj" fmla="val 36000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17520" y="17830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r">
              <a:buNone/>
            </a:pPr>
            <a:r>
              <a:rPr lang="ru-RU" sz="12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у меня не так?</a:t>
            </a:r>
          </a:p>
        </p:txBody>
      </p:sp>
      <p:sp>
        <p:nvSpPr>
          <p:cNvPr id="8" name="box 8"/>
          <p:cNvSpPr/>
          <p:nvPr/>
        </p:nvSpPr>
        <p:spPr>
          <a:xfrm>
            <a:off x="960120" y="2377440"/>
            <a:ext cx="384048" cy="384048"/>
          </a:xfrm>
          <a:prstGeom prst="ellipse">
            <a:avLst/>
          </a:prstGeom>
          <a:solidFill>
            <a:srgbClr val="2F8F5B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60120" y="2377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463040" y="2331720"/>
            <a:ext cx="3977640" cy="1051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Главное — вероятный слив на Х452 ночью: ушло 140 л. Ещё две машины с расходом выше обычного. Разобраться с Х452?</a:t>
            </a:r>
          </a:p>
        </p:txBody>
      </p:sp>
      <p:sp>
        <p:nvSpPr>
          <p:cNvPr id="11" name="box 11"/>
          <p:cNvSpPr/>
          <p:nvPr/>
        </p:nvSpPr>
        <p:spPr>
          <a:xfrm>
            <a:off x="1463040" y="34290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A2D34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463040" y="34290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Разобраться</a:t>
            </a:r>
          </a:p>
        </p:txBody>
      </p:sp>
      <p:sp>
        <p:nvSpPr>
          <p:cNvPr id="13" name="box 13"/>
          <p:cNvSpPr/>
          <p:nvPr/>
        </p:nvSpPr>
        <p:spPr>
          <a:xfrm>
            <a:off x="3246120" y="34290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ADC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3246120" y="34290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Позже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" y="3886200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Если данных нет: «Сказать не могу — датчик топлива на Х118 не отвечает с 12.09. Передать механику?»</a:t>
            </a:r>
          </a:p>
        </p:txBody>
      </p:sp>
      <p:sp>
        <p:nvSpPr>
          <p:cNvPr id="16" name="box 16"/>
          <p:cNvSpPr/>
          <p:nvPr/>
        </p:nvSpPr>
        <p:spPr>
          <a:xfrm>
            <a:off x="5897880" y="1371600"/>
            <a:ext cx="2651760" cy="93268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035040" y="144475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Короткие ответы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035040" y="1755648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«Что у меня не так?» → топ-3 проблемы, ≤ 3 предложений</a:t>
            </a:r>
          </a:p>
        </p:txBody>
      </p:sp>
      <p:sp>
        <p:nvSpPr>
          <p:cNvPr id="19" name="box 19"/>
          <p:cNvSpPr/>
          <p:nvPr/>
        </p:nvSpPr>
        <p:spPr>
          <a:xfrm>
            <a:off x="8659368" y="1371600"/>
            <a:ext cx="2651760" cy="93268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796528" y="144475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Утренняя сводка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796528" y="1755648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 8:00, не длиннее 5 строк; срочное — не больше 3 в день</a:t>
            </a:r>
          </a:p>
        </p:txBody>
      </p:sp>
      <p:sp>
        <p:nvSpPr>
          <p:cNvPr id="22" name="box 22"/>
          <p:cNvSpPr/>
          <p:nvPr/>
        </p:nvSpPr>
        <p:spPr>
          <a:xfrm>
            <a:off x="5897880" y="2404872"/>
            <a:ext cx="2651760" cy="93268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035040" y="24780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Разбор вместе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035040" y="2788920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«Разберись» → что случилось, доказательства, варианты</a:t>
            </a:r>
          </a:p>
        </p:txBody>
      </p:sp>
      <p:sp>
        <p:nvSpPr>
          <p:cNvPr id="25" name="box 25"/>
          <p:cNvSpPr/>
          <p:nvPr/>
        </p:nvSpPr>
        <p:spPr>
          <a:xfrm>
            <a:off x="8659368" y="2404872"/>
            <a:ext cx="2651760" cy="93268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796528" y="24780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Звонки и письма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796528" y="2788920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 СБ и «Техноком» — только после «Да» владельца</a:t>
            </a:r>
          </a:p>
        </p:txBody>
      </p:sp>
      <p:sp>
        <p:nvSpPr>
          <p:cNvPr id="28" name="box 28"/>
          <p:cNvSpPr/>
          <p:nvPr/>
        </p:nvSpPr>
        <p:spPr>
          <a:xfrm>
            <a:off x="5897880" y="3438144"/>
            <a:ext cx="2651760" cy="93268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6035040" y="351129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Память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035040" y="3822192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помнит прошлые случаи по каждой машине</a:t>
            </a:r>
          </a:p>
        </p:txBody>
      </p:sp>
      <p:sp>
        <p:nvSpPr>
          <p:cNvPr id="31" name="box 31"/>
          <p:cNvSpPr/>
          <p:nvPr/>
        </p:nvSpPr>
        <p:spPr>
          <a:xfrm>
            <a:off x="8659368" y="3438144"/>
            <a:ext cx="2651760" cy="93268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796528" y="351129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Свои виджеты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796528" y="3822192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«Добавь на главную расход по грузовым» — одной фразой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777240" y="4572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Как говорит Петрович</a:t>
            </a:r>
          </a:p>
        </p:txBody>
      </p:sp>
      <p:sp>
        <p:nvSpPr>
          <p:cNvPr id="35" name="box 35"/>
          <p:cNvSpPr/>
          <p:nvPr/>
        </p:nvSpPr>
        <p:spPr>
          <a:xfrm>
            <a:off x="777240" y="4937760"/>
            <a:ext cx="5120640" cy="1097280"/>
          </a:xfrm>
          <a:prstGeom prst="roundRect">
            <a:avLst>
              <a:gd name="adj" fmla="val 15000"/>
            </a:avLst>
          </a:prstGeom>
          <a:solidFill>
            <a:srgbClr val="FBE7E5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960120" y="493776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D2453B"/>
                </a:solidFill>
                <a:latin typeface="Arial"/>
                <a:ea typeface="Arial"/>
                <a:cs typeface="Arial"/>
              </a:rPr>
              <a:t>Так не надо:</a:t>
            </a:r>
          </a:p>
          <a:p>
            <a:pPr marL="0" indent="0" algn="l">
              <a:buNone/>
            </a:pPr>
            <a:r>
              <a:rPr lang="ru-RU" sz="1250" b="0" dirty="0">
                <a:solidFill>
                  <a:srgbClr val="D2453B"/>
                </a:solidFill>
                <a:latin typeface="Arial"/>
                <a:ea typeface="Arial"/>
                <a:cs typeface="Arial"/>
              </a:rPr>
              <a:t>«Зафиксировано 47 событий типа “слив” за период 17.09–23.09»</a:t>
            </a:r>
          </a:p>
        </p:txBody>
      </p:sp>
      <p:sp>
        <p:nvSpPr>
          <p:cNvPr id="37" name="box 37"/>
          <p:cNvSpPr/>
          <p:nvPr/>
        </p:nvSpPr>
        <p:spPr>
          <a:xfrm>
            <a:off x="6035040" y="4937760"/>
            <a:ext cx="5349240" cy="1097280"/>
          </a:xfrm>
          <a:prstGeom prst="roundRect">
            <a:avLst>
              <a:gd name="adj" fmla="val 150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6217920" y="493776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Так надо:</a:t>
            </a:r>
          </a:p>
          <a:p>
            <a:pPr marL="0" indent="0" algn="l">
              <a:buNone/>
            </a:pPr>
            <a:r>
              <a:rPr lang="ru-RU" sz="1250" b="0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«Главное — сливы на Северной базе: 9 случаев. Разобраться?» Вывод → что делать, на «вы», без терминов, никого не обвиняет</a:t>
            </a:r>
          </a:p>
        </p:txBody>
      </p:sp>
      <p:sp>
        <p:nvSpPr>
          <p:cNvPr id="39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Бизнес-требования к MVP, разделы 3–5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Кабинетные исследования: коротко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77240" y="1325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Что узнали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0" y="13258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Что это значит для приложения</a:t>
            </a:r>
          </a:p>
        </p:txBody>
      </p:sp>
      <p:sp>
        <p:nvSpPr>
          <p:cNvPr id="6" name="box 6"/>
          <p:cNvSpPr/>
          <p:nvPr/>
        </p:nvSpPr>
        <p:spPr>
          <a:xfrm>
            <a:off x="777240" y="1719072"/>
            <a:ext cx="7223760" cy="76809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60120" y="1719072"/>
            <a:ext cx="265176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«Данные есть — толку нет»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3611880" y="171907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Владельцы не пользуются отчётами; рынок платит аутсорс-аналитикам за разбор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8046720" y="2103120"/>
            <a:ext cx="155448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10" name="box 10"/>
          <p:cNvSpPr/>
          <p:nvPr/>
        </p:nvSpPr>
        <p:spPr>
          <a:xfrm>
            <a:off x="8229600" y="1719072"/>
            <a:ext cx="3154680" cy="768096"/>
          </a:xfrm>
          <a:prstGeom prst="roundRect">
            <a:avLst>
              <a:gd name="adj" fmla="val 21429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366760" y="1719072"/>
            <a:ext cx="29260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нужен ответ, а не отчёт</a:t>
            </a:r>
          </a:p>
        </p:txBody>
      </p:sp>
      <p:sp>
        <p:nvSpPr>
          <p:cNvPr id="12" name="box 12"/>
          <p:cNvSpPr/>
          <p:nvPr/>
        </p:nvSpPr>
        <p:spPr>
          <a:xfrm>
            <a:off x="777240" y="2587752"/>
            <a:ext cx="7223760" cy="76809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60120" y="2587752"/>
            <a:ext cx="265176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 РФ нет ассистента для владельца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611880" y="258775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Motive, Samsara, Geotab объясняют данные словами — но в России не работают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8046720" y="2971800"/>
            <a:ext cx="155448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16" name="box 16"/>
          <p:cNvSpPr/>
          <p:nvPr/>
        </p:nvSpPr>
        <p:spPr>
          <a:xfrm>
            <a:off x="8229600" y="2587752"/>
            <a:ext cx="3154680" cy="768096"/>
          </a:xfrm>
          <a:prstGeom prst="roundRect">
            <a:avLst>
              <a:gd name="adj" fmla="val 21429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366760" y="2587752"/>
            <a:ext cx="29260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ниша свободна</a:t>
            </a:r>
          </a:p>
        </p:txBody>
      </p:sp>
      <p:sp>
        <p:nvSpPr>
          <p:cNvPr id="18" name="box 18"/>
          <p:cNvSpPr/>
          <p:nvPr/>
        </p:nvSpPr>
        <p:spPr>
          <a:xfrm>
            <a:off x="777240" y="3456432"/>
            <a:ext cx="7223760" cy="76809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960120" y="3456432"/>
            <a:ext cx="265176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Ложные тревоги убивают доверие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3611880" y="345643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Уведомления о «сливах» так часто ошибаются, что их отключают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8046720" y="3840480"/>
            <a:ext cx="155448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22" name="box 22"/>
          <p:cNvSpPr/>
          <p:nvPr/>
        </p:nvSpPr>
        <p:spPr>
          <a:xfrm>
            <a:off x="8229600" y="3456432"/>
            <a:ext cx="3154680" cy="768096"/>
          </a:xfrm>
          <a:prstGeom prst="roundRect">
            <a:avLst>
              <a:gd name="adj" fmla="val 21429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366760" y="3456432"/>
            <a:ext cx="29260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≤ 3 срочных в день</a:t>
            </a:r>
          </a:p>
        </p:txBody>
      </p:sp>
      <p:sp>
        <p:nvSpPr>
          <p:cNvPr id="24" name="box 24"/>
          <p:cNvSpPr/>
          <p:nvPr/>
        </p:nvSpPr>
        <p:spPr>
          <a:xfrm>
            <a:off x="777240" y="4325112"/>
            <a:ext cx="7223760" cy="76809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60120" y="4325112"/>
            <a:ext cx="265176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Данные неидеальны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3611880" y="432511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Пропуски связи, молчащие датчики топлива (на реальном файле — 72 % пропусков)</a:t>
            </a:r>
          </a:p>
        </p:txBody>
      </p:sp>
      <p:cxnSp>
        <p:nvCxnSpPr>
          <p:cNvPr id="27" name="arrow 27"/>
          <p:cNvCxnSpPr/>
          <p:nvPr/>
        </p:nvCxnSpPr>
        <p:spPr>
          <a:xfrm>
            <a:off x="8046720" y="4709160"/>
            <a:ext cx="155448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28" name="box 28"/>
          <p:cNvSpPr/>
          <p:nvPr/>
        </p:nvSpPr>
        <p:spPr>
          <a:xfrm>
            <a:off x="8229600" y="4325112"/>
            <a:ext cx="3154680" cy="768096"/>
          </a:xfrm>
          <a:prstGeom prst="roundRect">
            <a:avLst>
              <a:gd name="adj" fmla="val 21429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366760" y="4325112"/>
            <a:ext cx="29260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честное «нет данных»</a:t>
            </a:r>
          </a:p>
        </p:txBody>
      </p:sp>
      <p:sp>
        <p:nvSpPr>
          <p:cNvPr id="30" name="box 30"/>
          <p:cNvSpPr/>
          <p:nvPr/>
        </p:nvSpPr>
        <p:spPr>
          <a:xfrm>
            <a:off x="777240" y="5193792"/>
            <a:ext cx="7223760" cy="76809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960120" y="5193792"/>
            <a:ext cx="265176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Персональные данные (152-ФЗ)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611880" y="519379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Геолокация и ФИО водителя; передача за рубеж — штраф до 300 тыс. ₽</a:t>
            </a:r>
          </a:p>
        </p:txBody>
      </p:sp>
      <p:cxnSp>
        <p:nvCxnSpPr>
          <p:cNvPr id="33" name="arrow 33"/>
          <p:cNvCxnSpPr/>
          <p:nvPr/>
        </p:nvCxnSpPr>
        <p:spPr>
          <a:xfrm>
            <a:off x="8046720" y="5577840"/>
            <a:ext cx="155448" cy="0"/>
          </a:xfrm>
          <a:prstGeom prst="straightConnector1">
            <a:avLst/>
          </a:prstGeom>
          <a:ln w="22225">
            <a:solidFill>
              <a:srgbClr val="2F8F5B"/>
            </a:solidFill>
            <a:tailEnd type="triangle" w="med" len="med"/>
          </a:ln>
        </p:spPr>
      </p:cxnSp>
      <p:sp>
        <p:nvSpPr>
          <p:cNvPr id="34" name="box 34"/>
          <p:cNvSpPr/>
          <p:nvPr/>
        </p:nvSpPr>
        <p:spPr>
          <a:xfrm>
            <a:off x="8229600" y="5193792"/>
            <a:ext cx="3154680" cy="768096"/>
          </a:xfrm>
          <a:prstGeom prst="roundRect">
            <a:avLst>
              <a:gd name="adj" fmla="val 21429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8366760" y="5193792"/>
            <a:ext cx="2926080" cy="7680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ФИО — не в AI-модель</a:t>
            </a:r>
          </a:p>
        </p:txBody>
      </p:sp>
      <p:sp>
        <p:nvSpPr>
          <p:cNvPr id="36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Analiz/reserch.md, Analiz/conkyrentnyy-analyz.md, Problem Space.md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Сравнение мобильных приложений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77240" y="1325880"/>
          <a:ext cx="6949440" cy="2743200"/>
        </p:xfrm>
        <a:graphic>
          <a:graphicData uri="http://schemas.openxmlformats.org/drawingml/2006/table">
            <a:tbl>
              <a:tblPr firstRow="1"/>
              <a:tblGrid>
                <a:gridCol w="3289048"/>
                <a:gridCol w="901836"/>
                <a:gridCol w="1432327"/>
                <a:gridCol w="1326229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Функция  /  Приложение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Wialon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AutoGRAPH Mobile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«Петрович»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Список машин, папки по подразделениям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Карта, трек, проигрывание маршрута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в карточке машины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Поездки, стоянки, заправки и сливы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Отчёты по поездкам и сливам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доклад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Команды на объект (сообщения, маршруты)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Вывод простым языком: «что не так»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Чат-бот, вопросы голосом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Утренняя сводка, срочное — не больше 3 в день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Письмо / звонок в СБ по событию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D2453B"/>
                          </a:solidFill>
                          <a:latin typeface="Arial"/>
                          <a:ea typeface="Arial"/>
                          <a:cs typeface="Arial"/>
                        </a:rPr>
                        <a:t>−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77240" y="5440680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Вывод:</a:t>
            </a: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 аналоги — инструмент диспетчера (карта, треки, отчёты). Мы делаем приложение для владельца: ответ «что не так» и чат-бот.</a:t>
            </a:r>
          </a:p>
        </p:txBody>
      </p:sp>
      <p:sp>
        <p:nvSpPr>
          <p:cNvPr id="6" name="box 6"/>
          <p:cNvSpPr/>
          <p:nvPr/>
        </p:nvSpPr>
        <p:spPr>
          <a:xfrm>
            <a:off x="7955280" y="1325880"/>
            <a:ext cx="342900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8138160" y="14173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Wialon · Gurtam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138160" y="1709928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4,7 ★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464040" y="17373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2 700 оценок · обновлено недавно (2.22.27)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138160" y="2286000"/>
            <a:ext cx="3108960" cy="1143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«В России не работает, деньги на ветер!» · «Перестало работать!!!»</a:t>
            </a:r>
          </a:p>
        </p:txBody>
      </p:sp>
      <p:sp>
        <p:nvSpPr>
          <p:cNvPr id="11" name="box 11"/>
          <p:cNvSpPr/>
          <p:nvPr/>
        </p:nvSpPr>
        <p:spPr>
          <a:xfrm>
            <a:off x="7955280" y="3657600"/>
            <a:ext cx="342900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138160" y="37490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AutoGRAPH.Mobile · Техноком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138160" y="4041648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D2453B"/>
                </a:solidFill>
                <a:latin typeface="Arial"/>
                <a:ea typeface="Arial"/>
                <a:cs typeface="Arial"/>
              </a:rPr>
              <a:t>2,9 ★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464040" y="40690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105 оценок · последнее обновление 23.01.2024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38160" y="4617720"/>
            <a:ext cx="3108960" cy="1143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«С мобильным интернетом вообще не ладит, только вайфай» · карта «приближает в случайную точку»</a:t>
            </a:r>
          </a:p>
        </p:txBody>
      </p:sp>
      <p:sp>
        <p:nvSpPr>
          <p:cNvPr id="16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App Store: apps.apple.com/ru/app/wialon/id960699792, apps.apple.com/ru/app/autograph-mobile/id628312992 (данные на 07.10.2026)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Гипотезы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77240" y="12984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Продуктовые</a:t>
            </a:r>
          </a:p>
        </p:txBody>
      </p:sp>
      <p:sp>
        <p:nvSpPr>
          <p:cNvPr id="5" name="box 5"/>
          <p:cNvSpPr/>
          <p:nvPr/>
        </p:nvSpPr>
        <p:spPr>
          <a:xfrm>
            <a:off x="777240" y="169164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960120" y="169164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554480" y="174650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Владелец понимает статус парка за ≤ 10 с на главном экране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554480" y="216712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тест на макете, 5 человек</a:t>
            </a:r>
          </a:p>
        </p:txBody>
      </p:sp>
      <p:sp>
        <p:nvSpPr>
          <p:cNvPr id="9" name="box 9"/>
          <p:cNvSpPr/>
          <p:nvPr/>
        </p:nvSpPr>
        <p:spPr>
          <a:xfrm>
            <a:off x="777240" y="256032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60120" y="256032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П2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554480" y="261518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Чтобы узнать «что не так», владелец выберет чат, а не отчёт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554480" y="303580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задание на тесте: что выберут</a:t>
            </a:r>
          </a:p>
        </p:txBody>
      </p:sp>
      <p:sp>
        <p:nvSpPr>
          <p:cNvPr id="13" name="box 13"/>
          <p:cNvSpPr/>
          <p:nvPr/>
        </p:nvSpPr>
        <p:spPr>
          <a:xfrm>
            <a:off x="777240" y="342900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960120" y="342900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П3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554480" y="348386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Ответ в ≤ 3 предложениях понятнее графиков и таблиц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554480" y="390448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опрос после теста</a:t>
            </a:r>
          </a:p>
        </p:txBody>
      </p:sp>
      <p:sp>
        <p:nvSpPr>
          <p:cNvPr id="17" name="box 17"/>
          <p:cNvSpPr/>
          <p:nvPr/>
        </p:nvSpPr>
        <p:spPr>
          <a:xfrm>
            <a:off x="777240" y="429768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960120" y="429768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П4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554480" y="435254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Спросить голосом удобнее, чем набирать текст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554480" y="477316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наблюдение на тесте</a:t>
            </a:r>
          </a:p>
        </p:txBody>
      </p:sp>
      <p:sp>
        <p:nvSpPr>
          <p:cNvPr id="21" name="box 21"/>
          <p:cNvSpPr/>
          <p:nvPr/>
        </p:nvSpPr>
        <p:spPr>
          <a:xfrm>
            <a:off x="777240" y="516636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960120" y="516636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П5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554480" y="522122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Письмо и звонок в СБ из приложения нужны владельцу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554480" y="564184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интервью с заказчиком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153912" y="12984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Технические</a:t>
            </a:r>
          </a:p>
        </p:txBody>
      </p:sp>
      <p:sp>
        <p:nvSpPr>
          <p:cNvPr id="26" name="box 26"/>
          <p:cNvSpPr/>
          <p:nvPr/>
        </p:nvSpPr>
        <p:spPr>
          <a:xfrm>
            <a:off x="6153912" y="169164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336792" y="169164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Т1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31152" y="174650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LLM с вызовом инструментов отвечает без выдуманных цифр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931152" y="216712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20–30 тестовых вопросов</a:t>
            </a:r>
          </a:p>
        </p:txBody>
      </p:sp>
      <p:sp>
        <p:nvSpPr>
          <p:cNvPr id="30" name="box 30"/>
          <p:cNvSpPr/>
          <p:nvPr/>
        </p:nvSpPr>
        <p:spPr>
          <a:xfrm>
            <a:off x="6153912" y="256032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6336792" y="256032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Т2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931152" y="261518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Ответ через сервер приходит за ≤ 5 с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931152" y="303580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замер на стенде</a:t>
            </a:r>
          </a:p>
        </p:txBody>
      </p:sp>
      <p:sp>
        <p:nvSpPr>
          <p:cNvPr id="34" name="box 34"/>
          <p:cNvSpPr/>
          <p:nvPr/>
        </p:nvSpPr>
        <p:spPr>
          <a:xfrm>
            <a:off x="6153912" y="342900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6336792" y="342900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Т3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931152" y="348386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Данных АвтоГРАФ хватает для сводки и карточки события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931152" y="390448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прототип на 7 машинах</a:t>
            </a:r>
          </a:p>
        </p:txBody>
      </p:sp>
      <p:sp>
        <p:nvSpPr>
          <p:cNvPr id="38" name="box 38"/>
          <p:cNvSpPr/>
          <p:nvPr/>
        </p:nvSpPr>
        <p:spPr>
          <a:xfrm>
            <a:off x="6153912" y="429768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6336792" y="429768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Т4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931152" y="435254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Без ФИО в промпте можно использовать облачную LLM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931152" y="477316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проверка запросов к модели</a:t>
            </a:r>
          </a:p>
        </p:txBody>
      </p:sp>
      <p:sp>
        <p:nvSpPr>
          <p:cNvPr id="42" name="box 42"/>
          <p:cNvSpPr/>
          <p:nvPr/>
        </p:nvSpPr>
        <p:spPr>
          <a:xfrm>
            <a:off x="6153912" y="5166360"/>
            <a:ext cx="5230368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6336792" y="516636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Т5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931152" y="522122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Простых правил хватает, чтобы Петровичу было о чём сообщить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931152" y="564184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Проверка: прогон на реальных данных</a:t>
            </a:r>
          </a:p>
        </p:txBody>
      </p:sp>
      <p:sp>
        <p:nvSpPr>
          <p:cNvPr id="46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Бизнес-требования к MVP, ml/docs/assistant-server-plan.md · все гипотезы открыты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Метрики, которые проверим сами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77240" y="1325880"/>
          <a:ext cx="10607040" cy="2194560"/>
        </p:xfrm>
        <a:graphic>
          <a:graphicData uri="http://schemas.openxmlformats.org/drawingml/2006/table">
            <a:tbl>
              <a:tblPr firstRow="1"/>
              <a:tblGrid>
                <a:gridCol w="4482975"/>
                <a:gridCol w="2191454"/>
                <a:gridCol w="3932610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Метрика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Цель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Как проверим сами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Понять, есть ли проблема, на главном экране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≤ 10 с у 4 из 5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Юзабилити-тест на макете, 5 участников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Ответ чат-бота на простой вопрос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≤ 5 с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Замер на стенде, 20 запросов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Выдуманные цифры в ответах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20–30 тестовых вопросов, проверка вручную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Короткие ответы (≤ 3 предложений)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≥ 90 %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Тот же набор вопросов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Сценарии MVP работают от начала до конца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8 из 8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Чек-лист сценариев на демо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Главный экран открывается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≤ 2 с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Замер на эмуляторе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Автотесты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100 % проходят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pytest и gradle test; сейчас 187 + 46 тестов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После пилота с заказчиком:</a:t>
            </a: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 доля подтвердившихся сигналов ≥ 70 % и пользуются через 4 недели ≥ 60 % владельцев</a:t>
            </a:r>
          </a:p>
        </p:txBody>
      </p:sp>
      <p:sp>
        <p:nvSpPr>
          <p:cNvPr id="6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Цели из бизнес-требований к MVP (10 с, 5 с, 2 с, ≤ 3 предложений), адаптированы под студенческий проект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Android: что сделали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77240" y="129844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7 экранов</a:t>
            </a:r>
          </a:p>
        </p:txBody>
      </p:sp>
      <p:sp>
        <p:nvSpPr>
          <p:cNvPr id="5" name="box 5"/>
          <p:cNvSpPr/>
          <p:nvPr/>
        </p:nvSpPr>
        <p:spPr>
          <a:xfrm>
            <a:off x="777240" y="1691640"/>
            <a:ext cx="6492240" cy="428462"/>
          </a:xfrm>
          <a:prstGeom prst="roundRect">
            <a:avLst>
              <a:gd name="adj" fmla="val 384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914400" y="1691640"/>
            <a:ext cx="3657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280160" y="1691640"/>
            <a:ext cx="58521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Первый запуск: вход в АвтоГРАФ или демо</a:t>
            </a:r>
          </a:p>
        </p:txBody>
      </p:sp>
      <p:sp>
        <p:nvSpPr>
          <p:cNvPr id="8" name="box 8"/>
          <p:cNvSpPr/>
          <p:nvPr/>
        </p:nvSpPr>
        <p:spPr>
          <a:xfrm>
            <a:off x="777240" y="2211542"/>
            <a:ext cx="6492240" cy="428462"/>
          </a:xfrm>
          <a:prstGeom prst="roundRect">
            <a:avLst>
              <a:gd name="adj" fmla="val 384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14400" y="2211542"/>
            <a:ext cx="3657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280160" y="2211542"/>
            <a:ext cx="58521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Сводка: доклад, «Слушать» (TTS), виджеты</a:t>
            </a:r>
          </a:p>
        </p:txBody>
      </p:sp>
      <p:sp>
        <p:nvSpPr>
          <p:cNvPr id="11" name="box 11"/>
          <p:cNvSpPr/>
          <p:nvPr/>
        </p:nvSpPr>
        <p:spPr>
          <a:xfrm>
            <a:off x="777240" y="2731443"/>
            <a:ext cx="6492240" cy="428462"/>
          </a:xfrm>
          <a:prstGeom prst="roundRect">
            <a:avLst>
              <a:gd name="adj" fmla="val 384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14400" y="2731443"/>
            <a:ext cx="3657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280160" y="2731443"/>
            <a:ext cx="58521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Уведомления: лента по дням, фильтры</a:t>
            </a:r>
          </a:p>
        </p:txBody>
      </p:sp>
      <p:sp>
        <p:nvSpPr>
          <p:cNvPr id="14" name="box 14"/>
          <p:cNvSpPr/>
          <p:nvPr/>
        </p:nvSpPr>
        <p:spPr>
          <a:xfrm>
            <a:off x="777240" y="3251345"/>
            <a:ext cx="6492240" cy="428462"/>
          </a:xfrm>
          <a:prstGeom prst="roundRect">
            <a:avLst>
              <a:gd name="adj" fmla="val 384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914400" y="3251345"/>
            <a:ext cx="3657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280160" y="3251345"/>
            <a:ext cx="58521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Карточка аномалии: график ±3 ч, решение</a:t>
            </a:r>
          </a:p>
        </p:txBody>
      </p:sp>
      <p:sp>
        <p:nvSpPr>
          <p:cNvPr id="17" name="box 17"/>
          <p:cNvSpPr/>
          <p:nvPr/>
        </p:nvSpPr>
        <p:spPr>
          <a:xfrm>
            <a:off x="777240" y="3771247"/>
            <a:ext cx="6492240" cy="428462"/>
          </a:xfrm>
          <a:prstGeom prst="roundRect">
            <a:avLst>
              <a:gd name="adj" fmla="val 384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914400" y="3771247"/>
            <a:ext cx="3657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280160" y="3771247"/>
            <a:ext cx="58521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Чат «Петрович» с контекстом аномалии</a:t>
            </a:r>
          </a:p>
        </p:txBody>
      </p:sp>
      <p:sp>
        <p:nvSpPr>
          <p:cNvPr id="20" name="box 20"/>
          <p:cNvSpPr/>
          <p:nvPr/>
        </p:nvSpPr>
        <p:spPr>
          <a:xfrm>
            <a:off x="777240" y="4291149"/>
            <a:ext cx="6492240" cy="428462"/>
          </a:xfrm>
          <a:prstGeom prst="roundRect">
            <a:avLst>
              <a:gd name="adj" fmla="val 384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14400" y="4291149"/>
            <a:ext cx="3657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280160" y="4291149"/>
            <a:ext cx="58521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Таблицы и графики: 4 раздела, 6 ч – 7 дней</a:t>
            </a:r>
          </a:p>
        </p:txBody>
      </p:sp>
      <p:sp>
        <p:nvSpPr>
          <p:cNvPr id="23" name="box 23"/>
          <p:cNvSpPr/>
          <p:nvPr/>
        </p:nvSpPr>
        <p:spPr>
          <a:xfrm>
            <a:off x="777240" y="4811050"/>
            <a:ext cx="6492240" cy="428462"/>
          </a:xfrm>
          <a:prstGeom prst="roundRect">
            <a:avLst>
              <a:gd name="adj" fmla="val 384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14400" y="4811050"/>
            <a:ext cx="3657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280160" y="4811050"/>
            <a:ext cx="5852160" cy="42846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Настройки и «Что присылать»</a:t>
            </a:r>
          </a:p>
        </p:txBody>
      </p:sp>
      <p:sp>
        <p:nvSpPr>
          <p:cNvPr id="26" name="box 26"/>
          <p:cNvSpPr/>
          <p:nvPr/>
        </p:nvSpPr>
        <p:spPr>
          <a:xfrm>
            <a:off x="777240" y="5349240"/>
            <a:ext cx="205740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886968" y="534924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~6 500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965960" y="53492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строк Kotlin</a:t>
            </a:r>
          </a:p>
        </p:txBody>
      </p:sp>
      <p:sp>
        <p:nvSpPr>
          <p:cNvPr id="29" name="box 29"/>
          <p:cNvSpPr/>
          <p:nvPr/>
        </p:nvSpPr>
        <p:spPr>
          <a:xfrm>
            <a:off x="2971800" y="5349240"/>
            <a:ext cx="205740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3081528" y="5349240"/>
            <a:ext cx="566928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721608" y="5349240"/>
            <a:ext cx="121615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модульных тестов</a:t>
            </a:r>
          </a:p>
        </p:txBody>
      </p:sp>
      <p:sp>
        <p:nvSpPr>
          <p:cNvPr id="32" name="box 32"/>
          <p:cNvSpPr/>
          <p:nvPr/>
        </p:nvSpPr>
        <p:spPr>
          <a:xfrm>
            <a:off x="5166360" y="5349240"/>
            <a:ext cx="205740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276088" y="5349240"/>
            <a:ext cx="420624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769864" y="5349240"/>
            <a:ext cx="136245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экранов</a:t>
            </a:r>
          </a:p>
        </p:txBody>
      </p:sp>
      <p:sp>
        <p:nvSpPr>
          <p:cNvPr id="35" name="box 35"/>
          <p:cNvSpPr/>
          <p:nvPr/>
        </p:nvSpPr>
        <p:spPr>
          <a:xfrm>
            <a:off x="7498080" y="1298448"/>
            <a:ext cx="3886200" cy="4782312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7680960" y="1389888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Под капотом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680960" y="1755648"/>
            <a:ext cx="3566160" cy="423367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Реальный API АвтоГРАФ (7 машин) + демо-режим на 10 машинах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Потоковый разбор: только нужные параметры, части по 6 ч, gzip ~8×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Агрегация 1 / 2 / 5 / 15 мин, дубли датчиков скрываются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WorkManager каждые 15 мин, push только «предупреждение» и «критично»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Решения «Подтвердить / Ложная» с причиной; через сервер видно, кто и когда решил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Переключатели «через стенд»: чат, данные, проблемы, решения (ветки fleet)</a:t>
            </a:r>
          </a:p>
        </p:txBody>
      </p:sp>
      <p:sp>
        <p:nvSpPr>
          <p:cNvPr id="38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petrovich/README.md, app/src; строки и тесты посчитаны по ветке fleet/step-4 (в main — ~5 300 строк, 8 тестов)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Чат-бот: Петрович отвечает по данным парка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77240" y="1298448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Сделано — шаги 1–4 из 7 (ветки fleet/step-1…4, 07–08.10)</a:t>
            </a:r>
          </a:p>
        </p:txBody>
      </p:sp>
      <p:sp>
        <p:nvSpPr>
          <p:cNvPr id="5" name="box 5"/>
          <p:cNvSpPr/>
          <p:nvPr/>
        </p:nvSpPr>
        <p:spPr>
          <a:xfrm>
            <a:off x="777240" y="1691640"/>
            <a:ext cx="6492240" cy="621792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960120" y="1691640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1. Сквозной чат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063240" y="1691640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приложение → fleet_service → OpenRouter; числа только из данных</a:t>
            </a:r>
          </a:p>
        </p:txBody>
      </p:sp>
      <p:sp>
        <p:nvSpPr>
          <p:cNvPr id="8" name="box 8"/>
          <p:cNvSpPr/>
          <p:nvPr/>
        </p:nvSpPr>
        <p:spPr>
          <a:xfrm>
            <a:off x="777240" y="2404872"/>
            <a:ext cx="6492240" cy="621792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60120" y="2404872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2. Данные парка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063240" y="2404872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сервер сам грузит АвтоГРАФ; list_vehicles, get_vehicle_summary</a:t>
            </a:r>
          </a:p>
        </p:txBody>
      </p:sp>
      <p:sp>
        <p:nvSpPr>
          <p:cNvPr id="11" name="box 11"/>
          <p:cNvSpPr/>
          <p:nvPr/>
        </p:nvSpPr>
        <p:spPr>
          <a:xfrm>
            <a:off x="777240" y="3118104"/>
            <a:ext cx="6492240" cy="621792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60120" y="3118104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3. Поиск проблем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063240" y="3118104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правила перенесены один в один (эталонные тесты); check_vehicle</a:t>
            </a:r>
          </a:p>
        </p:txBody>
      </p:sp>
      <p:sp>
        <p:nvSpPr>
          <p:cNvPr id="14" name="box 14"/>
          <p:cNvSpPr/>
          <p:nvPr/>
        </p:nvSpPr>
        <p:spPr>
          <a:xfrm>
            <a:off x="777240" y="3831336"/>
            <a:ext cx="6492240" cy="621792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960120" y="3831336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4. Решения владельца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063240" y="3831336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SQLite, кто и когда решил; list_anomalies, get_anomaly</a:t>
            </a:r>
          </a:p>
        </p:txBody>
      </p:sp>
      <p:sp>
        <p:nvSpPr>
          <p:cNvPr id="17" name="box 17"/>
          <p:cNvSpPr/>
          <p:nvPr/>
        </p:nvSpPr>
        <p:spPr>
          <a:xfrm>
            <a:off x="777240" y="4544568"/>
            <a:ext cx="6492240" cy="621792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960120" y="454456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 приложении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063240" y="4544568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переключатели «через стенд», чат из карточки события</a:t>
            </a:r>
          </a:p>
        </p:txBody>
      </p:sp>
      <p:sp>
        <p:nvSpPr>
          <p:cNvPr id="20" name="box 20"/>
          <p:cNvSpPr/>
          <p:nvPr/>
        </p:nvSpPr>
        <p:spPr>
          <a:xfrm>
            <a:off x="777240" y="5349240"/>
            <a:ext cx="205740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86968" y="5349240"/>
            <a:ext cx="420624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380744" y="5349240"/>
            <a:ext cx="136245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инструментов у Петровича</a:t>
            </a:r>
          </a:p>
        </p:txBody>
      </p:sp>
      <p:sp>
        <p:nvSpPr>
          <p:cNvPr id="23" name="box 23"/>
          <p:cNvSpPr/>
          <p:nvPr/>
        </p:nvSpPr>
        <p:spPr>
          <a:xfrm>
            <a:off x="2971800" y="5349240"/>
            <a:ext cx="205740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3081528" y="5349240"/>
            <a:ext cx="71323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187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3867912" y="5349240"/>
            <a:ext cx="1069848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тестов сервера (отчёт: зелёные)</a:t>
            </a:r>
          </a:p>
        </p:txBody>
      </p:sp>
      <p:sp>
        <p:nvSpPr>
          <p:cNvPr id="26" name="box 26"/>
          <p:cNvSpPr/>
          <p:nvPr/>
        </p:nvSpPr>
        <p:spPr>
          <a:xfrm>
            <a:off x="5166360" y="5349240"/>
            <a:ext cx="205740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276088" y="534924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355080" y="53492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0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проверка всей цепочки</a:t>
            </a:r>
          </a:p>
        </p:txBody>
      </p:sp>
      <p:sp>
        <p:nvSpPr>
          <p:cNvPr id="29" name="box 29"/>
          <p:cNvSpPr/>
          <p:nvPr/>
        </p:nvSpPr>
        <p:spPr>
          <a:xfrm>
            <a:off x="7498080" y="1298448"/>
            <a:ext cx="3886200" cy="1865376"/>
          </a:xfrm>
          <a:prstGeom prst="roundRect">
            <a:avLst>
              <a:gd name="adj" fmla="val 8824"/>
            </a:avLst>
          </a:prstGeom>
          <a:solidFill>
            <a:srgbClr val="FBF0DC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7680960" y="1389888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C98A1B"/>
                </a:solidFill>
                <a:latin typeface="Arial"/>
                <a:ea typeface="Arial"/>
                <a:cs typeface="Arial"/>
              </a:rPr>
              <a:t>Спринт 2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7680960" y="1755648"/>
            <a:ext cx="3566160" cy="131673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Фоновая проверка на сервере (шаг 5)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Письма в СБ только после «Да» (шаг 6)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Убрать старый путь на телефоне (шаг 7)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Влить ветки в main</a:t>
            </a:r>
          </a:p>
        </p:txBody>
      </p:sp>
      <p:sp>
        <p:nvSpPr>
          <p:cNvPr id="32" name="box 32"/>
          <p:cNvSpPr/>
          <p:nvPr/>
        </p:nvSpPr>
        <p:spPr>
          <a:xfrm>
            <a:off x="7498080" y="3282696"/>
            <a:ext cx="3886200" cy="279806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7680960" y="3374136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Выбор LLM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7680960" y="3739896"/>
            <a:ext cx="3566160" cy="2249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ru-RU" sz="11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Сейчас:</a:t>
            </a:r>
            <a:r>
              <a:rPr lang="ru-RU" sz="11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 OpenRouter, модель задаётся настройкой, сбор данных провайдером запрещён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ru-RU" sz="11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Ограничение:</a:t>
            </a:r>
            <a:r>
              <a:rPr lang="ru-RU" sz="11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 в тестах модель подменена — на реальной LLM качество ещё не мерили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ru-RU" sz="11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Дальше:</a:t>
            </a:r>
            <a:r>
              <a:rPr lang="ru-RU" sz="11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 2–3 модели на 20–30 вопросах: tool calling, русский, скорость, цена, 152-ФЗ</a:t>
            </a:r>
          </a:p>
        </p:txBody>
      </p:sp>
      <p:sp>
        <p:nvSpPr>
          <p:cNvPr id="35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github.com/ErmakovDenis/petrovich, ветки fleet/step-1…4: ml/fleet_service (README, prompts/system.md), ml/fleet-step-4-deviations.md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Обновлённые экраны: 9 макетов, 4 вкладки</a:t>
            </a:r>
          </a:p>
        </p:txBody>
      </p:sp>
      <p:sp>
        <p:nvSpPr>
          <p:cNvPr id="4" name="box 4"/>
          <p:cNvSpPr/>
          <p:nvPr/>
        </p:nvSpPr>
        <p:spPr>
          <a:xfrm>
            <a:off x="777240" y="1261872"/>
            <a:ext cx="1773936" cy="3712464"/>
          </a:xfrm>
          <a:prstGeom prst="roundRect">
            <a:avLst>
              <a:gd name="adj" fmla="val 11340"/>
            </a:avLst>
          </a:prstGeom>
          <a:solidFill>
            <a:srgbClr val="2A2D34"/>
          </a:solidFill>
          <a:ln>
            <a:noFill/>
          </a:ln>
        </p:spPr>
      </p:sp>
      <p:pic>
        <p:nvPicPr>
          <p:cNvPr id="5" name="img 5" descr="Макет: Главная"/>
          <p:cNvPicPr>
            <a:picLocks noChangeAspect="1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>
            <a:off x="832104" y="1316736"/>
            <a:ext cx="1664208" cy="3602736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685800" y="5029200"/>
            <a:ext cx="195681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Главная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40080" y="528523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проблемы, статус парка, виджеты</a:t>
            </a:r>
          </a:p>
        </p:txBody>
      </p:sp>
      <p:sp>
        <p:nvSpPr>
          <p:cNvPr id="8" name="box 8"/>
          <p:cNvSpPr/>
          <p:nvPr/>
        </p:nvSpPr>
        <p:spPr>
          <a:xfrm>
            <a:off x="2985516" y="1261872"/>
            <a:ext cx="1773936" cy="3712464"/>
          </a:xfrm>
          <a:prstGeom prst="roundRect">
            <a:avLst>
              <a:gd name="adj" fmla="val 11340"/>
            </a:avLst>
          </a:prstGeom>
          <a:solidFill>
            <a:srgbClr val="2A2D34"/>
          </a:solidFill>
          <a:ln>
            <a:noFill/>
          </a:ln>
        </p:spPr>
      </p:sp>
      <p:pic>
        <p:nvPicPr>
          <p:cNvPr id="9" name="img 9" descr="Макет: Доклад в 8:00"/>
          <p:cNvPicPr>
            <a:picLocks noChangeAspect="1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>
            <a:off x="3040380" y="1316736"/>
            <a:ext cx="1664208" cy="3602736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2894076" y="5029200"/>
            <a:ext cx="195681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Доклад в 8:00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848356" y="528523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читать или слушать</a:t>
            </a:r>
          </a:p>
        </p:txBody>
      </p:sp>
      <p:sp>
        <p:nvSpPr>
          <p:cNvPr id="12" name="box 12"/>
          <p:cNvSpPr/>
          <p:nvPr/>
        </p:nvSpPr>
        <p:spPr>
          <a:xfrm>
            <a:off x="5193792" y="1261872"/>
            <a:ext cx="1773936" cy="3712464"/>
          </a:xfrm>
          <a:prstGeom prst="roundRect">
            <a:avLst>
              <a:gd name="adj" fmla="val 11340"/>
            </a:avLst>
          </a:prstGeom>
          <a:solidFill>
            <a:srgbClr val="2A2D34"/>
          </a:solidFill>
          <a:ln>
            <a:noFill/>
          </a:ln>
        </p:spPr>
      </p:sp>
      <p:pic>
        <p:nvPicPr>
          <p:cNvPr id="13" name="img 13" descr="Макет: Карточка события"/>
          <p:cNvPicPr>
            <a:picLocks noChangeAspect="1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>
            <a:off x="5248656" y="1316736"/>
            <a:ext cx="1664208" cy="3602736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5102352" y="5029200"/>
            <a:ext cx="195681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Карточка события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056632" y="528523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график, «Разберись» / «Ложная»</a:t>
            </a:r>
          </a:p>
        </p:txBody>
      </p:sp>
      <p:sp>
        <p:nvSpPr>
          <p:cNvPr id="16" name="box 16"/>
          <p:cNvSpPr/>
          <p:nvPr/>
        </p:nvSpPr>
        <p:spPr>
          <a:xfrm>
            <a:off x="7402068" y="1261872"/>
            <a:ext cx="1773936" cy="3712464"/>
          </a:xfrm>
          <a:prstGeom prst="roundRect">
            <a:avLst>
              <a:gd name="adj" fmla="val 11340"/>
            </a:avLst>
          </a:prstGeom>
          <a:solidFill>
            <a:srgbClr val="2A2D34"/>
          </a:solidFill>
          <a:ln>
            <a:noFill/>
          </a:ln>
        </p:spPr>
      </p:sp>
      <p:pic>
        <p:nvPicPr>
          <p:cNvPr id="17" name="img 17" descr="Макет: Петрович"/>
          <p:cNvPicPr>
            <a:picLocks noChangeAspect="1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>
            <a:off x="7456932" y="1316736"/>
            <a:ext cx="1664208" cy="3602736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7310628" y="5029200"/>
            <a:ext cx="195681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Петрович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264908" y="528523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голос, коротко, «нет данных»</a:t>
            </a:r>
          </a:p>
        </p:txBody>
      </p:sp>
      <p:sp>
        <p:nvSpPr>
          <p:cNvPr id="20" name="box 20"/>
          <p:cNvSpPr/>
          <p:nvPr/>
        </p:nvSpPr>
        <p:spPr>
          <a:xfrm>
            <a:off x="9610344" y="1261872"/>
            <a:ext cx="1773936" cy="3712464"/>
          </a:xfrm>
          <a:prstGeom prst="roundRect">
            <a:avLst>
              <a:gd name="adj" fmla="val 11340"/>
            </a:avLst>
          </a:prstGeom>
          <a:solidFill>
            <a:srgbClr val="2A2D34"/>
          </a:solidFill>
          <a:ln>
            <a:noFill/>
          </a:ln>
        </p:spPr>
      </p:sp>
      <p:pic>
        <p:nvPicPr>
          <p:cNvPr id="21" name="img 21" descr="Макет: Письмо в СБ"/>
          <p:cNvPicPr>
            <a:picLocks noChangeAspect="1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>
            <a:off x="9665208" y="1316736"/>
            <a:ext cx="1664208" cy="3602736"/>
          </a:xfrm>
          <a:prstGeom prst="rect">
            <a:avLst/>
          </a:prstGeom>
        </p:spPr>
      </p:pic>
      <p:sp>
        <p:nvSpPr>
          <p:cNvPr id="22" name="text 22"/>
          <p:cNvSpPr txBox="1"/>
          <p:nvPr/>
        </p:nvSpPr>
        <p:spPr>
          <a:xfrm>
            <a:off x="9518904" y="5029200"/>
            <a:ext cx="195681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Письмо в СБ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473184" y="5285232"/>
            <a:ext cx="2048256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0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черновик, отправка по кнопке</a:t>
            </a:r>
          </a:p>
        </p:txBody>
      </p:sp>
      <p:sp>
        <p:nvSpPr>
          <p:cNvPr id="24" name="box 24"/>
          <p:cNvSpPr/>
          <p:nvPr/>
        </p:nvSpPr>
        <p:spPr>
          <a:xfrm>
            <a:off x="777240" y="5596128"/>
            <a:ext cx="10607040" cy="512064"/>
          </a:xfrm>
          <a:prstGeom prst="roundRect">
            <a:avLst>
              <a:gd name="adj" fmla="val 3214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60120" y="5596128"/>
            <a:ext cx="10241280" cy="51206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5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Что изменилось:</a:t>
            </a:r>
            <a:r>
              <a:rPr lang="ru-RU" sz="1150" b="0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 4 вкладки вместо 5 · чат — отдельная вкладка и кнопка «Спросить» · звонок и письмо только после подтверждения · ≤ 3 срочных в день и тихие часы</a:t>
            </a:r>
          </a:p>
        </p:txBody>
      </p:sp>
      <p:sp>
        <p:nvSpPr>
          <p:cNvPr id="26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Макеты «Петрович — мобильное приложение» (Claude Design): 9 экранов + кликабельный прототип; данные на макетах условные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4" name="box 4"/>
          <p:cNvSpPr/>
          <p:nvPr/>
        </p:nvSpPr>
        <p:spPr>
          <a:xfrm>
            <a:off x="777240" y="1371600"/>
            <a:ext cx="2377440" cy="310896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14400" y="14630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Android-приложение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1828800"/>
            <a:ext cx="2148840" cy="2560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7 экранов (Compose)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Уведомления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Кэш ленты без сети</a:t>
            </a:r>
          </a:p>
          <a:p>
            <a:pPr marL="171450" indent="-171450" algn="l">
              <a:spcAft>
                <a:spcPts val="300"/>
              </a:spcAft>
              <a:buClr>
                <a:srgbClr val="1E1F21"/>
              </a:buClr>
              <a:buFont typeface="Arial"/>
              <a:buChar char="•"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Переключатели: старый путь или сервер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3200400" y="2926080"/>
            <a:ext cx="457200" cy="0"/>
          </a:xfrm>
          <a:prstGeom prst="straightConnector1">
            <a:avLst/>
          </a:prstGeom>
          <a:ln w="22225">
            <a:solidFill>
              <a:srgbClr val="4A6CF7"/>
            </a:solidFill>
            <a:tailEnd type="triangle" w="med" len="med"/>
          </a:ln>
        </p:spPr>
      </p:cxnSp>
      <p:sp>
        <p:nvSpPr>
          <p:cNvPr id="8" name="text 8"/>
          <p:cNvSpPr txBox="1"/>
          <p:nvPr/>
        </p:nvSpPr>
        <p:spPr>
          <a:xfrm>
            <a:off x="3127248" y="2606040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9" name="box 9"/>
          <p:cNvSpPr/>
          <p:nvPr/>
        </p:nvSpPr>
        <p:spPr>
          <a:xfrm>
            <a:off x="3703320" y="1371600"/>
            <a:ext cx="457200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4A6CF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886200" y="14630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fleet_service (FastAPI)</a:t>
            </a:r>
          </a:p>
        </p:txBody>
      </p:sp>
      <p:sp>
        <p:nvSpPr>
          <p:cNvPr id="11" name="box 11"/>
          <p:cNvSpPr/>
          <p:nvPr/>
        </p:nvSpPr>
        <p:spPr>
          <a:xfrm>
            <a:off x="3886200" y="1874520"/>
            <a:ext cx="201168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3959352" y="1874520"/>
            <a:ext cx="186537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Агент: LLM + 5 инструментов</a:t>
            </a:r>
          </a:p>
        </p:txBody>
      </p:sp>
      <p:sp>
        <p:nvSpPr>
          <p:cNvPr id="13" name="box 13"/>
          <p:cNvSpPr/>
          <p:nvPr/>
        </p:nvSpPr>
        <p:spPr>
          <a:xfrm>
            <a:off x="6035040" y="1874520"/>
            <a:ext cx="201168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108192" y="1874520"/>
            <a:ext cx="186537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Данные АвтоГРАФ + кэш</a:t>
            </a:r>
          </a:p>
        </p:txBody>
      </p:sp>
      <p:sp>
        <p:nvSpPr>
          <p:cNvPr id="15" name="box 15"/>
          <p:cNvSpPr/>
          <p:nvPr/>
        </p:nvSpPr>
        <p:spPr>
          <a:xfrm>
            <a:off x="3886200" y="2715768"/>
            <a:ext cx="201168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959352" y="2715768"/>
            <a:ext cx="186537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Правила поиска проблем</a:t>
            </a:r>
          </a:p>
        </p:txBody>
      </p:sp>
      <p:sp>
        <p:nvSpPr>
          <p:cNvPr id="17" name="box 17"/>
          <p:cNvSpPr/>
          <p:nvPr/>
        </p:nvSpPr>
        <p:spPr>
          <a:xfrm>
            <a:off x="6035040" y="2715768"/>
            <a:ext cx="2011680" cy="731520"/>
          </a:xfrm>
          <a:prstGeom prst="roundRect">
            <a:avLst>
              <a:gd name="adj" fmla="val 22500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108192" y="2715768"/>
            <a:ext cx="186537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Хранилище решений (SQLite)</a:t>
            </a:r>
          </a:p>
        </p:txBody>
      </p:sp>
      <p:sp>
        <p:nvSpPr>
          <p:cNvPr id="19" name="box 19"/>
          <p:cNvSpPr/>
          <p:nvPr/>
        </p:nvSpPr>
        <p:spPr>
          <a:xfrm>
            <a:off x="3886200" y="3557016"/>
            <a:ext cx="201168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 w="12700">
            <a:solidFill>
              <a:srgbClr val="B5BBC1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3959352" y="3557016"/>
            <a:ext cx="186537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Фоновая проверка</a:t>
            </a:r>
          </a:p>
        </p:txBody>
      </p:sp>
      <p:sp>
        <p:nvSpPr>
          <p:cNvPr id="21" name="box 21"/>
          <p:cNvSpPr/>
          <p:nvPr/>
        </p:nvSpPr>
        <p:spPr>
          <a:xfrm>
            <a:off x="6035040" y="3557016"/>
            <a:ext cx="201168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 w="12700">
            <a:solidFill>
              <a:srgbClr val="B5BBC1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6108192" y="3557016"/>
            <a:ext cx="1865376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Письма в СБ</a:t>
            </a:r>
          </a:p>
        </p:txBody>
      </p:sp>
      <p:cxnSp>
        <p:nvCxnSpPr>
          <p:cNvPr id="23" name="arrow 23"/>
          <p:cNvCxnSpPr/>
          <p:nvPr/>
        </p:nvCxnSpPr>
        <p:spPr>
          <a:xfrm>
            <a:off x="8321040" y="2926080"/>
            <a:ext cx="411480" cy="0"/>
          </a:xfrm>
          <a:prstGeom prst="straightConnector1">
            <a:avLst/>
          </a:prstGeom>
          <a:ln w="22225">
            <a:solidFill>
              <a:srgbClr val="4A6CF7"/>
            </a:solidFill>
            <a:tailEnd type="triangle" w="med" len="med"/>
          </a:ln>
        </p:spPr>
      </p:cxnSp>
      <p:sp>
        <p:nvSpPr>
          <p:cNvPr id="24" name="box 24"/>
          <p:cNvSpPr/>
          <p:nvPr/>
        </p:nvSpPr>
        <p:spPr>
          <a:xfrm>
            <a:off x="8778240" y="1371600"/>
            <a:ext cx="2606040" cy="950976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961120" y="1481328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API АвтоГРАФ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961120" y="18470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данные парка</a:t>
            </a:r>
          </a:p>
        </p:txBody>
      </p:sp>
      <p:sp>
        <p:nvSpPr>
          <p:cNvPr id="27" name="box 27"/>
          <p:cNvSpPr/>
          <p:nvPr/>
        </p:nvSpPr>
        <p:spPr>
          <a:xfrm>
            <a:off x="8778240" y="2450592"/>
            <a:ext cx="2606040" cy="950976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961120" y="256032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961120" y="2926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30" name="box 30"/>
          <p:cNvSpPr/>
          <p:nvPr/>
        </p:nvSpPr>
        <p:spPr>
          <a:xfrm>
            <a:off x="8778240" y="3529584"/>
            <a:ext cx="2606040" cy="950976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961120" y="363931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SMTP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961120" y="400507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письма в СБ (план)</a:t>
            </a:r>
          </a:p>
        </p:txBody>
      </p:sp>
      <p:sp>
        <p:nvSpPr>
          <p:cNvPr id="33" name="box 33"/>
          <p:cNvSpPr/>
          <p:nvPr/>
        </p:nvSpPr>
        <p:spPr>
          <a:xfrm>
            <a:off x="777240" y="466344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3F1E8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1325880" y="464515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сделано</a:t>
            </a:r>
          </a:p>
        </p:txBody>
      </p:sp>
      <p:sp>
        <p:nvSpPr>
          <p:cNvPr id="35" name="box 35"/>
          <p:cNvSpPr/>
          <p:nvPr/>
        </p:nvSpPr>
        <p:spPr>
          <a:xfrm>
            <a:off x="2377440" y="466344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F1F1F2"/>
          </a:solidFill>
          <a:ln w="12700">
            <a:solidFill>
              <a:srgbClr val="B5BBC1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2926080" y="464515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1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план (шаги 5–7)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125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Почему сервер:</a:t>
            </a:r>
            <a:r>
              <a:rPr lang="ru-RU" sz="125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 ключи LLM и почты нельзя хранить в приложении · цифры в чате и на экранах считает один код · доклады по расписанию невозможны, пока данные живут на телефоне.</a:t>
            </a:r>
          </a:p>
        </p:txBody>
      </p:sp>
      <p:sp>
        <p:nvSpPr>
          <p:cNvPr id="38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ml/docs/assistant-server-plan.md, ветки fleet/step-1…4; сделанное ещё не влито в 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Стек и почему так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77240" y="1325880"/>
          <a:ext cx="10607040" cy="2194560"/>
        </p:xfrm>
        <a:graphic>
          <a:graphicData uri="http://schemas.openxmlformats.org/drawingml/2006/table">
            <a:tbl>
              <a:tblPr firstRow="1"/>
              <a:tblGrid>
                <a:gridCol w="1631852"/>
                <a:gridCol w="4283612"/>
                <a:gridCol w="4691575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Слой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Выбор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1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Почему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Kotlin, Jetpack Compose (Material 3)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Основная аудитория на Android; нативный UI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Фон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WorkManager: каждые 15 мин, окно 3 ч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Переживает перезапуск, экономит батарею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Сеть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Retrofit + kotlinx.serialization, потоковый JsonReader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17 МБ JSON в сутки на машину без падений по памяти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Python, FastAPI, SQLite + SQLAlchemy, Alembic, Docker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Чат, данные, проблемы, решения в одном месте; итоги сверены с приложением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LLM-ассистент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OpenRouter, tool calling; модель — настройкой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Числа считают tools, модель только объясняет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Веб-MVP и чат-бот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PostgreSQL, REST (Swagger), Chart.js, 2ГИС, Telegram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Кабинет аналитика и утренний доклад в Telegram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Интеграция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JSON API АвтоГРАФ: 5 методов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00" b="0" dirty="0">
                          <a:solidFill>
                            <a:srgbClr val="1E1F21"/>
                          </a:solidFill>
                          <a:latin typeface="Arial"/>
                          <a:ea typeface="Arial"/>
                          <a:cs typeface="Arial"/>
                        </a:rPr>
                        <a:t>Источник данных заказчика</a:t>
                      </a:r>
                    </a:p>
                  </a:txBody>
                  <a:tcPr marL="82300" marR="82300" marT="82300" marB="82300" anchor="ctr">
                    <a:lnL w="9525">
                      <a:solidFill>
                        <a:srgbClr val="D9DADC"/>
                      </a:solidFill>
                    </a:lnL>
                    <a:lnR w="9525">
                      <a:solidFill>
                        <a:srgbClr val="D9DADC"/>
                      </a:solidFill>
                    </a:lnR>
                    <a:lnT w="9525">
                      <a:solidFill>
                        <a:srgbClr val="D9DADC"/>
                      </a:solidFill>
                    </a:lnT>
                    <a:lnB w="9525">
                      <a:solidFill>
                        <a:srgbClr val="D9DA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365760" y="274320"/>
            <a:ext cx="11457432" cy="6309360"/>
          </a:xfrm>
          <a:prstGeom prst="roundRect">
            <a:avLst>
              <a:gd name="adj" fmla="val 4348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" name="Заголовок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Задачи на 2 спринт</a:t>
            </a:r>
          </a:p>
        </p:txBody>
      </p:sp>
      <p:sp>
        <p:nvSpPr>
          <p:cNvPr id="4" name="box 4"/>
          <p:cNvSpPr/>
          <p:nvPr/>
        </p:nvSpPr>
        <p:spPr>
          <a:xfrm>
            <a:off x="777240" y="1298448"/>
            <a:ext cx="10607040" cy="502920"/>
          </a:xfrm>
          <a:prstGeom prst="roundRect">
            <a:avLst>
              <a:gd name="adj" fmla="val 27273"/>
            </a:avLst>
          </a:prstGeom>
          <a:solidFill>
            <a:srgbClr val="2A2D34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1298448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50" b="1" dirty="0">
                <a:solidFill>
                  <a:srgbClr val="B8D9C5"/>
                </a:solidFill>
                <a:latin typeface="Arial"/>
                <a:ea typeface="Arial"/>
                <a:cs typeface="Arial"/>
              </a:rPr>
              <a:t>Цель спринта:</a:t>
            </a:r>
            <a:r>
              <a:rPr lang="ru-RU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Петрович отвечает владельцу по реальным данным, и мы проверяем это на людях</a:t>
            </a:r>
          </a:p>
        </p:txBody>
      </p:sp>
      <p:sp>
        <p:nvSpPr>
          <p:cNvPr id="6" name="box 6"/>
          <p:cNvSpPr/>
          <p:nvPr/>
        </p:nvSpPr>
        <p:spPr>
          <a:xfrm>
            <a:off x="777240" y="1965960"/>
            <a:ext cx="3438144" cy="4069080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78408" y="2103120"/>
            <a:ext cx="3035808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Продукт и аналитика</a:t>
            </a:r>
          </a:p>
        </p:txBody>
      </p:sp>
      <p:sp>
        <p:nvSpPr>
          <p:cNvPr id="8" name="box 8"/>
          <p:cNvSpPr/>
          <p:nvPr/>
        </p:nvSpPr>
        <p:spPr>
          <a:xfrm>
            <a:off x="941832" y="2606040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051560" y="2606040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344168" y="2606040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Юзабилити-тест на макете: 5 участников (П1–П3)</a:t>
            </a:r>
          </a:p>
        </p:txBody>
      </p:sp>
      <p:sp>
        <p:nvSpPr>
          <p:cNvPr id="11" name="box 11"/>
          <p:cNvSpPr/>
          <p:nvPr/>
        </p:nvSpPr>
        <p:spPr>
          <a:xfrm>
            <a:off x="941832" y="3447288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51560" y="3447288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344168" y="3447288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Интервью с заказчиком: письма и звонок в СБ (П5)</a:t>
            </a:r>
          </a:p>
        </p:txBody>
      </p:sp>
      <p:sp>
        <p:nvSpPr>
          <p:cNvPr id="14" name="box 14"/>
          <p:cNvSpPr/>
          <p:nvPr/>
        </p:nvSpPr>
        <p:spPr>
          <a:xfrm>
            <a:off x="941832" y="4288536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51560" y="4288536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344168" y="4288536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Решить: рубли или литры</a:t>
            </a:r>
          </a:p>
        </p:txBody>
      </p:sp>
      <p:sp>
        <p:nvSpPr>
          <p:cNvPr id="17" name="box 17"/>
          <p:cNvSpPr/>
          <p:nvPr/>
        </p:nvSpPr>
        <p:spPr>
          <a:xfrm>
            <a:off x="941832" y="5129784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051560" y="5129784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2F8F5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344168" y="5129784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Набор 20–30 тестовых вопросов для чат-бота</a:t>
            </a:r>
          </a:p>
        </p:txBody>
      </p:sp>
      <p:sp>
        <p:nvSpPr>
          <p:cNvPr id="20" name="box 20"/>
          <p:cNvSpPr/>
          <p:nvPr/>
        </p:nvSpPr>
        <p:spPr>
          <a:xfrm>
            <a:off x="4361688" y="1965960"/>
            <a:ext cx="3438144" cy="4069080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4562856" y="2103120"/>
            <a:ext cx="3035808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Сервер и чат-бот</a:t>
            </a:r>
          </a:p>
        </p:txBody>
      </p:sp>
      <p:sp>
        <p:nvSpPr>
          <p:cNvPr id="22" name="box 22"/>
          <p:cNvSpPr/>
          <p:nvPr/>
        </p:nvSpPr>
        <p:spPr>
          <a:xfrm>
            <a:off x="4526280" y="2606040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4636008" y="2606040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928616" y="2606040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Влить ветки fleet/step-1…4 в main</a:t>
            </a:r>
          </a:p>
        </p:txBody>
      </p:sp>
      <p:sp>
        <p:nvSpPr>
          <p:cNvPr id="25" name="box 25"/>
          <p:cNvSpPr/>
          <p:nvPr/>
        </p:nvSpPr>
        <p:spPr>
          <a:xfrm>
            <a:off x="4526280" y="3447288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4636008" y="3447288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928616" y="3447288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Фоновая проверка на сервере (шаг 5) — нужно решение по доступу к АвтоГРАФ</a:t>
            </a:r>
          </a:p>
        </p:txBody>
      </p:sp>
      <p:sp>
        <p:nvSpPr>
          <p:cNvPr id="28" name="box 28"/>
          <p:cNvSpPr/>
          <p:nvPr/>
        </p:nvSpPr>
        <p:spPr>
          <a:xfrm>
            <a:off x="4526280" y="4288536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4636008" y="4288536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928616" y="4288536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Письма в СБ только после «Да» (шаг 6)</a:t>
            </a:r>
          </a:p>
        </p:txBody>
      </p:sp>
      <p:sp>
        <p:nvSpPr>
          <p:cNvPr id="31" name="box 31"/>
          <p:cNvSpPr/>
          <p:nvPr/>
        </p:nvSpPr>
        <p:spPr>
          <a:xfrm>
            <a:off x="4526280" y="5129784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636008" y="5129784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4A6CF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928616" y="5129784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Выбор LLM на тестовых вопросах + обезличивание (152-ФЗ)</a:t>
            </a:r>
          </a:p>
        </p:txBody>
      </p:sp>
      <p:sp>
        <p:nvSpPr>
          <p:cNvPr id="34" name="box 34"/>
          <p:cNvSpPr/>
          <p:nvPr/>
        </p:nvSpPr>
        <p:spPr>
          <a:xfrm>
            <a:off x="7946136" y="1965960"/>
            <a:ext cx="3438144" cy="4069080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8147304" y="2103120"/>
            <a:ext cx="3035808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8E44D9"/>
                </a:solidFill>
                <a:latin typeface="Arial"/>
                <a:ea typeface="Arial"/>
                <a:cs typeface="Arial"/>
              </a:rPr>
              <a:t>Приложение</a:t>
            </a:r>
          </a:p>
        </p:txBody>
      </p:sp>
      <p:sp>
        <p:nvSpPr>
          <p:cNvPr id="36" name="box 36"/>
          <p:cNvSpPr/>
          <p:nvPr/>
        </p:nvSpPr>
        <p:spPr>
          <a:xfrm>
            <a:off x="8110728" y="2606040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8220456" y="2606040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8E44D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513064" y="2606040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Главная и 4 вкладки по новым макетам</a:t>
            </a:r>
          </a:p>
        </p:txBody>
      </p:sp>
      <p:sp>
        <p:nvSpPr>
          <p:cNvPr id="39" name="box 39"/>
          <p:cNvSpPr/>
          <p:nvPr/>
        </p:nvSpPr>
        <p:spPr>
          <a:xfrm>
            <a:off x="8110728" y="3447288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8220456" y="3447288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8E44D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513064" y="3447288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«Что у меня не так?» и доклад в 8:00</a:t>
            </a:r>
          </a:p>
        </p:txBody>
      </p:sp>
      <p:sp>
        <p:nvSpPr>
          <p:cNvPr id="42" name="box 42"/>
          <p:cNvSpPr/>
          <p:nvPr/>
        </p:nvSpPr>
        <p:spPr>
          <a:xfrm>
            <a:off x="8110728" y="4288536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8220456" y="4288536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8E44D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513064" y="4288536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Голосовой ввод в чате</a:t>
            </a:r>
          </a:p>
        </p:txBody>
      </p:sp>
      <p:sp>
        <p:nvSpPr>
          <p:cNvPr id="45" name="box 45"/>
          <p:cNvSpPr/>
          <p:nvPr/>
        </p:nvSpPr>
        <p:spPr>
          <a:xfrm>
            <a:off x="8110728" y="5129784"/>
            <a:ext cx="3108960" cy="731520"/>
          </a:xfrm>
          <a:prstGeom prst="roundRect">
            <a:avLst>
              <a:gd name="adj" fmla="val 22500"/>
            </a:avLst>
          </a:prstGeom>
          <a:solidFill>
            <a:srgbClr val="F1F1F2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8220456" y="5129784"/>
            <a:ext cx="274320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8E44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8513064" y="5129784"/>
            <a:ext cx="2633472" cy="7315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200" b="0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Звонок и письмо с экраном подтверждения</a:t>
            </a:r>
          </a:p>
        </p:txBody>
      </p:sp>
      <p:sp>
        <p:nvSpPr>
          <p:cNvPr id="48" name="Источник"/>
          <p:cNvSpPr txBox="1"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9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ml/docs/assistant-server-plan.md (шаги 5–7), гипотезы и метрики этой презентации, макеты экранов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11480" y="4572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pic>
        <p:nvPicPr>
          <p:cNvPr id="3" name="img 3" descr="Устинов Алексей"/>
          <p:cNvPicPr>
            <a:picLocks noChangeAspect="1"/>
          </p:cNvPicPr>
          <p:nvPr/>
        </p:nvPicPr>
        <p:blipFill>
          <a:blip r:embed="rId3"/>
          <a:srcRect l="10746" t="0" r="10746" b="0"/>
          <a:stretch>
            <a:fillRect/>
          </a:stretch>
        </p:blipFill>
        <p:spPr>
          <a:xfrm>
            <a:off x="411480" y="1371600"/>
            <a:ext cx="2117750" cy="269748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411480" y="4206240"/>
            <a:ext cx="216347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Устинов Алексей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11480" y="4572000"/>
            <a:ext cx="216347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Фулстек</a:t>
            </a:r>
          </a:p>
        </p:txBody>
      </p:sp>
      <p:pic>
        <p:nvPicPr>
          <p:cNvPr id="6" name="img 6" descr="Ермаков Денис"/>
          <p:cNvPicPr>
            <a:picLocks noChangeAspect="1"/>
          </p:cNvPicPr>
          <p:nvPr/>
        </p:nvPicPr>
        <p:blipFill>
          <a:blip r:embed="rId4"/>
          <a:srcRect l="10746" t="0" r="10746" b="0"/>
          <a:stretch>
            <a:fillRect/>
          </a:stretch>
        </p:blipFill>
        <p:spPr>
          <a:xfrm>
            <a:off x="2684678" y="1371600"/>
            <a:ext cx="2117750" cy="269748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2684678" y="4206240"/>
            <a:ext cx="216347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Ермаков Денис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684678" y="4572000"/>
            <a:ext cx="216347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Фулстек</a:t>
            </a:r>
          </a:p>
        </p:txBody>
      </p:sp>
      <p:pic>
        <p:nvPicPr>
          <p:cNvPr id="9" name="img 9" descr="Лысенко Кристина"/>
          <p:cNvPicPr>
            <a:picLocks noChangeAspect="1"/>
          </p:cNvPicPr>
          <p:nvPr/>
        </p:nvPicPr>
        <p:blipFill>
          <a:blip r:embed="rId5"/>
          <a:srcRect l="10746" t="0" r="10746" b="0"/>
          <a:stretch>
            <a:fillRect/>
          </a:stretch>
        </p:blipFill>
        <p:spPr>
          <a:xfrm>
            <a:off x="4957877" y="1371600"/>
            <a:ext cx="2117750" cy="2697480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4957877" y="4206240"/>
            <a:ext cx="216347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Лысенко Кристина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957877" y="4572000"/>
            <a:ext cx="216347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Фронтенд</a:t>
            </a:r>
          </a:p>
        </p:txBody>
      </p:sp>
      <p:pic>
        <p:nvPicPr>
          <p:cNvPr id="12" name="img 12" descr="Резов Дмитрий"/>
          <p:cNvPicPr>
            <a:picLocks noChangeAspect="1"/>
          </p:cNvPicPr>
          <p:nvPr/>
        </p:nvPicPr>
        <p:blipFill>
          <a:blip r:embed="rId6"/>
          <a:srcRect l="10746" t="0" r="10746" b="0"/>
          <a:stretch>
            <a:fillRect/>
          </a:stretch>
        </p:blipFill>
        <p:spPr>
          <a:xfrm>
            <a:off x="7231075" y="1371600"/>
            <a:ext cx="2117750" cy="269748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231075" y="4206240"/>
            <a:ext cx="216347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Резов Дмитрий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231075" y="4572000"/>
            <a:ext cx="216347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pic>
        <p:nvPicPr>
          <p:cNvPr id="15" name="img 15" descr="Мансурова Алина"/>
          <p:cNvPicPr>
            <a:picLocks noChangeAspect="1"/>
          </p:cNvPicPr>
          <p:nvPr/>
        </p:nvPicPr>
        <p:blipFill>
          <a:blip r:embed="rId7"/>
          <a:srcRect l="10746" t="0" r="10746" b="0"/>
          <a:stretch>
            <a:fillRect/>
          </a:stretch>
        </p:blipFill>
        <p:spPr>
          <a:xfrm>
            <a:off x="9504274" y="1371600"/>
            <a:ext cx="2117750" cy="269748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9504274" y="4206240"/>
            <a:ext cx="216347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E1F21"/>
                </a:solidFill>
                <a:latin typeface="Arial"/>
                <a:ea typeface="Arial"/>
                <a:cs typeface="Arial"/>
              </a:rPr>
              <a:t>Мансурова Алина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504274" y="4572000"/>
            <a:ext cx="2163470" cy="3200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buNone/>
            </a:pPr>
            <a:r>
              <a:rPr lang="ru-RU" sz="1300" b="0" dirty="0">
                <a:solidFill>
                  <a:srgbClr val="6B6E73"/>
                </a:solidFill>
                <a:latin typeface="Arial"/>
                <a:ea typeface="Arial"/>
                <a:cs typeface="Arial"/>
              </a:rPr>
              <a:t>Аналитик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Петрович: итоги 1 спринта</dc:title>
  <dc:creator>Петрович — аналитика</dc:creator>
  <dc:description>Собрано из slides/sprint_1.json, source-sha256:d0f5901aceac5c67</dc:description>
</cp:coreProperties>
</file>