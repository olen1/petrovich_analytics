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E3oCePYUVVTjL0DflsQWq5Pap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8DB6C8-1CD0-481D-BF0D-E1EA620C3BA8}">
  <a:tblStyle styleId="{438DB6C8-1CD0-481D-BF0D-E1EA620C3BA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«Петрович» — мобильное приложение для владельца автопарка. Главная особенность — чат-бот, который общается с владельцем, объясняет, что происходит с парком, и помогает разобраться. Мы не строим систему фрод-детекции: мы делаем удобное и понятное приложение поверх данных АвтоГРАФ. Дальше: боль клиента, ценность, чат-бот, сравнение с мобильными приложениями Wialon и AutoGRAPH.Mobile, метрики MVP и результаты первого спринта.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Результаты первого спринта. Сформулировали проблему, клиента, цель и метрики. Провели кабинетное исследование и сравнили мобильные приложения. Описали экраны и сценарии, обновили макеты: девять экранов, четыре вкладки и кликабельный прототип. Сделали Android-прототип с 7 экранами на реальном API АвтоГРАФ. По чат-боту сделаны четыре шага из семи: сквозной чат через наш сервер, данные парка, поиск проблем и хранилище решений владельца. Теперь Петрович отвечает по данным парка через пять инструментов. Важно: это сделано в ветках fleet/step-1…4, в main они ещё не влиты. Не сделано: проверка на реальной модели и её выбор. Это задачи второго спринта вместе с фоновой проверкой на сервере и письмами.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Наш клиент — владелец парка на 10–50 машин. Он уже подключён к системе мониторинга АвтоГРАФ, но её отчётами не пользуется: они сложные, а нанимать аналитика дорого. Всё смотрит с телефона, но существующие мобильные приложения — это карта, треки и отчёты для диспетчера. Поэтому о сливах топлива, перерасходе и простоях он узнаёт поздно, когда деньги уже потеряны. Его главные вопросы простые: сколько потратили, сколько заработали и что не так.</a:t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Что мы предлагаем: «Петрович» — мобильное приложение с AI-помощником. Он сам следит за данными парка, коротко сообщает о проблемах и помогает с ними разобраться. Сравните: сейчас владелец узнаёт о сливе случайно через несколько дней — с Петровичем получает сообщение в течение 15 минут. Сейчас видит литры и графики — с Петровичем вывод одной фразой. Сейчас звонит в «Техноком» и ждёт аналитика — с Петровичем спрашивает и сразу получает ответ. Сейчас пересказывает ситуацию службе безопасности — с Петровичем отправляет доказательства одной кнопкой.</a:t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Главная особенность приложения — чат-бот. Владелец пишет или говорит голосом «Что у меня не так?» и получает короткий ответ: три главные проблемы и предложение разобраться. Петрович каждое утро присылает сводку, по кнопке «Разберись» объясняет ситуацию и показывает доказательства, помнит прошлые случаи по машине, сам добавляет виджеты на главный экран. Письма, звонки и отправка в службу безопасности — только после «Да» владельца. Петрович говорит коротко, по-деловому, без терминов и никого не обвиняет. Если данных нет — честно говорит об этом.</a:t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Коротко о кабинетных исследованиях. Первое: данные у владельцев есть, а пользы нет — отчётами не пользуются, вместо этого платят аутсорс-аналитикам. Второе: ассистента, который объясняет данные простым языком, в России нет; на Западе такие есть у Motive, Samsara и Geotab, но в России они не работают. Третье: ложные тревоги убивают доверие, уведомления просто отключают. Четвёртое: данные неидеальны — пропуски связи, молчащие датчики, поэтому приложение должно честно говорить, когда данных нет. Пятое: это персональные данные, ФИО водителей в AI-модель не передаём.</a:t>
            </a:r>
            <a:endParaRPr/>
          </a:p>
        </p:txBody>
      </p:sp>
      <p:sp>
        <p:nvSpPr>
          <p:cNvPr id="176" name="Google Shape;1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Сравнили мобильные приложения Wialon и AutoGRAPH.Mobile из App Store. Оба — инструменты диспетчера: список объектов, карта, треки, поездки, стоянки, заправки и сливы, отчёты. У Wialon рейтинг 4,7 при 2,7 тысячи оценок и свежие обновления, но пользователи пишут, что в России приложение перестало работать. У AutoGRAPH.Mobile — 2,9 при 105 оценках, последнее обновление в январе 2024 года, жалобы на карту и работу через мобильный интернет. Ни одно не объясняет данные простым языком, нет чата, голоса, сводки и действий вроде письма в службу безопасности.</a:t>
            </a:r>
            <a:endParaRPr/>
          </a:p>
        </p:txBody>
      </p:sp>
      <p:sp>
        <p:nvSpPr>
          <p:cNvPr id="216" name="Google Shape;2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Гипотезы, которые проверяем. Продуктовые: владелец понимает статус парка за 10 секунд; для поиска проблемы он выберет чат, а не отчёт; короткий ответ понятнее графиков; голосом спрашивать удобнее; письмо и звонок в службу безопасности из приложения реально нужны. Технические: модель с вызовом инструментов отвечает без выдуманных цифр; ответ через сервер приходит за 5 секунд; данных АвтоГРАФ хватает для сводки и карточки события; обезличивание позволяет использовать облачную модель.</a:t>
            </a:r>
            <a:endParaRPr/>
          </a:p>
        </p:txBody>
      </p:sp>
      <p:sp>
        <p:nvSpPr>
          <p:cNvPr id="236" name="Google Shape;2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Метрики, которые студенческая команда может измерить сама, без пилота с заказчиком. Владелец понимает статус парка за 10 секунд — проверим юзабилити-тестом на макете с пятью участниками, цель — четыре из пяти. Ответ чат-бота на простой вопрос — до 5 секунд, замер на стенде. Ноль выдуманных цифр и 90 процентов коротких ответов на наборе из 20–30 вопросов. Все 8 сценариев проходят на демо. Главный экран открывается за 2 секунды. Все автотесты зелёные. Метрики пилота — подтверждённые сигналы и удержание — посчитаем позже, когда появятся реальные пользователи.</a:t>
            </a:r>
            <a:endParaRPr/>
          </a:p>
        </p:txBody>
      </p:sp>
      <p:sp>
        <p:nvSpPr>
          <p:cNvPr id="286" name="Google Shape;2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Android-приложение. Семь экранов по прототипу: первый запуск, сводка с озвучкой, уведомления, карточка аномалии с графиком, чат, таблицы и графики, настройки. Работает на реальном API АвтоГРАФ и в демо-режиме. Данные грузятся потоково частями по 6 часов с gzip и сворачиваются в интервалы. Фоновая проверка каждые 15 минут, push только о важном. В ветках fleet приложение умеет брать чат, данные, проблемы и решения с нашего сервера — включается переключателями в настройках, лента кэшируется для показа без сети. Вместе с ветками — около 6 500 строк Kotlin и 46 модульных тестов.</a:t>
            </a:r>
            <a:endParaRPr/>
          </a:p>
        </p:txBody>
      </p:sp>
      <p:sp>
        <p:nvSpPr>
          <p:cNvPr id="297" name="Google Shape;29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Главный результат по чат-боту: сделаны четыре шага из семи. Шаг 1 — сквозной чат: приложение, наш сервер fleet_service, модель через OpenRouter. Шаг 2 — сервер сам загружает данные АвтоГРАФ, и у Петровича появились инструменты «список машин» и «сводка по машине». Шаг 3 — правила поиска проблем перенесены на сервер один в один, это проверено эталонными тестами, и появился инструмент «проверить машину». Шаг 4 — хранилище событий и решений владельца: видно, кто и когда решил; инструменты «лента событий» и «одно событие», чат можно открыть из карточки. Итого пять инструментов. Правила для модели: все числа только из инструментов, «нет данных» и «ноль» — разные вещи, тексты из данных — не команды. Всё это в ветках, в main ещё не влито. Честное ограничение: в автотестах модель подменена, качество ответов на реальной модели мы ещё не мерили — это задача второго спринта.</a:t>
            </a:r>
            <a:endParaRPr/>
          </a:p>
        </p:txBody>
      </p:sp>
      <p:sp>
        <p:nvSpPr>
          <p:cNvPr id="349" name="Google Shape;34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Обновили макеты мобильного приложения: девять экранов и кликабельный прототип. Навигация упростилась до четырёх вкладок: Главная, Петрович, Проблемы, Настройки. На главной за 10 секунд видно, есть ли проблемы, статус парка и виджеты, а кнопка «Спросить» сразу открывает Петровича. Утренний доклад в 8:00 можно прочитать или прослушать. Карточка события показывает график и признаки, Петрович напоминает, что такое уже было. В чате — голос, короткий ответ и честное «не могу сказать», если датчик молчит. Письмо и звонок в службу безопасности готовит Петрович, но отправляет только владелец кнопкой. В настройках — не больше трёх срочных уведомлений в день и тихие часы.</a:t>
            </a:r>
            <a:endParaRPr/>
          </a:p>
        </p:txBody>
      </p:sp>
      <p:sp>
        <p:nvSpPr>
          <p:cNvPr id="388" name="Google Shape;38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Архитектура. Android-приложение показывает экраны, хранит кэш и присылает уведомления. По плану из семи шагов логика переезжает на наш сервер fleet_service, четыре шага уже сделаны в ветках: чат, загрузка данных АвтоГРАФ с кэшем, правила поиска проблем и хранилище решений владельца на SQLite. Сейчас в приложении работают оба пути — старый на телефоне и новый через сервер, они переключаются в настройках. Осталось: фоновая проверка на сервере, письма и удаление старого пути. Причины: ключи нельзя хранить в приложении, цифры в чате и на экранах должны считаться одним кодом, а доклады по расписанию невозможны, пока всё живёт на телефоне.</a:t>
            </a:r>
            <a:endParaRPr/>
          </a:p>
        </p:txBody>
      </p:sp>
      <p:sp>
        <p:nvSpPr>
          <p:cNvPr id="418" name="Google Shape;4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Стек с обоснованием. Клиент — Kotlin и Jetpack Compose. Фоновые задачи — WorkManager. Сеть — Retrofit с потоковым разбором. Сервер — Python и FastAPI, решения владельца хранятся в SQLite через SQLAlchemy с миграциями Alembic; расчёты сервера сверены с приложением эталонными тестами. LLM — через OpenRouter с вызовом инструментов, числа считает код, модель только объясняет. Важный открытый вопрос: OpenRouter — это зарубежные модели, а в данных есть персональные данные водителей, поэтому нужно обезличивание или российская модель.</a:t>
            </a:r>
            <a:endParaRPr/>
          </a:p>
        </p:txBody>
      </p:sp>
      <p:sp>
        <p:nvSpPr>
          <p:cNvPr id="460" name="Google Shape;46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Во втором спринте цель — чтобы Петрович отвечал владельцу по реальным данным и мы проверили это на людях. По продукту: юзабилити-тест на макете с пятью участниками, интервью с заказчиком про письма и звонок в службу безопасности, решение по рублям или литрам и набор из 20–30 тестовых вопросов. По серверу и чат-боту: влить ветки в main, фоновая проверка на сервере, письма в СБ только после «Да» владельца, выбор модели на тестовых вопросах и обезличивание данных. По приложению: главная и вкладки по новым макетам, вопрос «Что у меня не так?» и доклад в 8:00, голосовой ввод. Итог спринта проверяем метриками со слайда о метриках.</a:t>
            </a:r>
            <a:endParaRPr/>
          </a:p>
        </p:txBody>
      </p:sp>
      <p:sp>
        <p:nvSpPr>
          <p:cNvPr id="468" name="Google Shape;46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Команда: два фулстек-разработчика, фронтенд-разработчик, ML-инженер и аналитик.</a:t>
            </a:r>
            <a:endParaRPr/>
          </a:p>
        </p:txBody>
      </p:sp>
      <p:sp>
        <p:nvSpPr>
          <p:cNvPr id="520" name="Google Shape;52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Relationship Id="rId4" Type="http://schemas.openxmlformats.org/officeDocument/2006/relationships/image" Target="../media/image9.jpg"/><Relationship Id="rId5" Type="http://schemas.openxmlformats.org/officeDocument/2006/relationships/image" Target="../media/image7.jpg"/><Relationship Id="rId6" Type="http://schemas.openxmlformats.org/officeDocument/2006/relationships/image" Target="../media/image11.jpg"/><Relationship Id="rId7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fmla="val 4348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Логотип Петрович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59436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 txBox="1"/>
          <p:nvPr/>
        </p:nvSpPr>
        <p:spPr>
          <a:xfrm>
            <a:off x="1691640" y="7772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600"/>
              <a:buFont typeface="Arial"/>
              <a:buNone/>
            </a:pPr>
            <a:r>
              <a:rPr b="1" i="0" lang="en-US" spc="400" sz="16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ПЕТРОВИЧ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914400" y="1920240"/>
            <a:ext cx="10332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«Петрович» — мобильное приложение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для владельца автопарка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Простое и понятное, с чат-ботом, который помогает разобраться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Итоги 1 спринта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Заказчик — «Техноком» · октябрь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fmla="val 4348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Итоги 1 спринта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77240" y="1371600"/>
            <a:ext cx="7680960" cy="576072"/>
          </a:xfrm>
          <a:prstGeom prst="roundRect">
            <a:avLst>
              <a:gd fmla="val 2857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 txBox="1"/>
          <p:nvPr/>
        </p:nvSpPr>
        <p:spPr>
          <a:xfrm>
            <a:off x="960120" y="1371600"/>
            <a:ext cx="35661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Проблема, клиент, цель, метрики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4526280" y="1371600"/>
            <a:ext cx="24688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бизнес-требования к MVP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995160" y="1499616"/>
            <a:ext cx="1325880" cy="310896"/>
          </a:xfrm>
          <a:prstGeom prst="roundRect">
            <a:avLst>
              <a:gd fmla="val 50000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6995160" y="1499616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Сделано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77240" y="2039112"/>
            <a:ext cx="7680960" cy="576072"/>
          </a:xfrm>
          <a:prstGeom prst="roundRect">
            <a:avLst>
              <a:gd fmla="val 2857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960120" y="2039112"/>
            <a:ext cx="35661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Исследования и сравнение приложений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4526280" y="2039112"/>
            <a:ext cx="24688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desk research, Wialon, AutoGRAPH.Mobile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995160" y="2167128"/>
            <a:ext cx="1325880" cy="310896"/>
          </a:xfrm>
          <a:prstGeom prst="roundRect">
            <a:avLst>
              <a:gd fmla="val 50000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6995160" y="2167128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Сделано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77240" y="2706624"/>
            <a:ext cx="7680960" cy="576072"/>
          </a:xfrm>
          <a:prstGeom prst="roundRect">
            <a:avLst>
              <a:gd fmla="val 2857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960120" y="2706624"/>
            <a:ext cx="35661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Экраны: описание и 9 макетов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4526280" y="2706624"/>
            <a:ext cx="24688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кликабельный прототип, 4 вкладки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995160" y="2834640"/>
            <a:ext cx="1325880" cy="310896"/>
          </a:xfrm>
          <a:prstGeom prst="roundRect">
            <a:avLst>
              <a:gd fmla="val 50000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 txBox="1"/>
          <p:nvPr/>
        </p:nvSpPr>
        <p:spPr>
          <a:xfrm>
            <a:off x="6995160" y="2834640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Сделано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77240" y="3374136"/>
            <a:ext cx="7680960" cy="576072"/>
          </a:xfrm>
          <a:prstGeom prst="roundRect">
            <a:avLst>
              <a:gd fmla="val 2857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 txBox="1"/>
          <p:nvPr/>
        </p:nvSpPr>
        <p:spPr>
          <a:xfrm>
            <a:off x="960120" y="3374136"/>
            <a:ext cx="35661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Android-прототип: 7 экранов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4526280" y="3374136"/>
            <a:ext cx="24688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реальный API АвтоГРАФ + демо-режим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995160" y="3502152"/>
            <a:ext cx="1325880" cy="310896"/>
          </a:xfrm>
          <a:prstGeom prst="roundRect">
            <a:avLst>
              <a:gd fmla="val 50000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 txBox="1"/>
          <p:nvPr/>
        </p:nvSpPr>
        <p:spPr>
          <a:xfrm>
            <a:off x="6995160" y="3502152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Сделано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77240" y="4041648"/>
            <a:ext cx="7680960" cy="576072"/>
          </a:xfrm>
          <a:prstGeom prst="roundRect">
            <a:avLst>
              <a:gd fmla="val 2857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 txBox="1"/>
          <p:nvPr/>
        </p:nvSpPr>
        <p:spPr>
          <a:xfrm>
            <a:off x="960120" y="4041648"/>
            <a:ext cx="35661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Чат-бот: сквозной чат через сервер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4526280" y="4041648"/>
            <a:ext cx="24688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шаг 1 из 7 · ветка fleet/step-1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995160" y="4169664"/>
            <a:ext cx="1325880" cy="310896"/>
          </a:xfrm>
          <a:prstGeom prst="roundRect">
            <a:avLst>
              <a:gd fmla="val 50000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 txBox="1"/>
          <p:nvPr/>
        </p:nvSpPr>
        <p:spPr>
          <a:xfrm>
            <a:off x="6995160" y="4169664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Сделано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77240" y="4709160"/>
            <a:ext cx="7680960" cy="576072"/>
          </a:xfrm>
          <a:prstGeom prst="roundRect">
            <a:avLst>
              <a:gd fmla="val 2857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 txBox="1"/>
          <p:nvPr/>
        </p:nvSpPr>
        <p:spPr>
          <a:xfrm>
            <a:off x="960120" y="4709160"/>
            <a:ext cx="35661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Чат-бот отвечает по данным парка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4526280" y="4709160"/>
            <a:ext cx="24688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шаги 2–4: данные, проблемы, решения · ветки fleet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995160" y="4837176"/>
            <a:ext cx="1325880" cy="310896"/>
          </a:xfrm>
          <a:prstGeom prst="roundRect">
            <a:avLst>
              <a:gd fmla="val 50000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 txBox="1"/>
          <p:nvPr/>
        </p:nvSpPr>
        <p:spPr>
          <a:xfrm>
            <a:off x="6995160" y="4837176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Сделано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777240" y="5376672"/>
            <a:ext cx="7680960" cy="576072"/>
          </a:xfrm>
          <a:prstGeom prst="roundRect">
            <a:avLst>
              <a:gd fmla="val 2857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 txBox="1"/>
          <p:nvPr/>
        </p:nvSpPr>
        <p:spPr>
          <a:xfrm>
            <a:off x="960120" y="5376672"/>
            <a:ext cx="35661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Проверка на реальной LLM и выбор модели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4526280" y="5376672"/>
            <a:ext cx="24688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в автотестах модель подменена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995160" y="5504688"/>
            <a:ext cx="1325880" cy="310896"/>
          </a:xfrm>
          <a:prstGeom prst="roundRect">
            <a:avLst>
              <a:gd fmla="val 50000" name="adj"/>
            </a:avLst>
          </a:prstGeom>
          <a:solidFill>
            <a:srgbClr val="FBF0DC"/>
          </a:solidFill>
          <a:ln cap="flat" cmpd="sng" w="12700">
            <a:solidFill>
              <a:srgbClr val="FBF0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 txBox="1"/>
          <p:nvPr/>
        </p:nvSpPr>
        <p:spPr>
          <a:xfrm>
            <a:off x="6995160" y="5504688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8A1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98A1B"/>
                </a:solidFill>
                <a:latin typeface="Arial"/>
                <a:ea typeface="Arial"/>
                <a:cs typeface="Arial"/>
                <a:sym typeface="Arial"/>
              </a:rPr>
              <a:t>Спринт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8686800" y="1371600"/>
            <a:ext cx="2697480" cy="4599432"/>
          </a:xfrm>
          <a:prstGeom prst="roundRect">
            <a:avLst>
              <a:gd fmla="val 6102" name="adj"/>
            </a:avLst>
          </a:prstGeom>
          <a:solidFill>
            <a:srgbClr val="2A2D34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>
            <a:off x="8686800" y="1645920"/>
            <a:ext cx="2697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D9C5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B8D9C5"/>
                </a:solidFill>
                <a:latin typeface="Arial"/>
                <a:ea typeface="Arial"/>
                <a:cs typeface="Arial"/>
                <a:sym typeface="Arial"/>
              </a:rPr>
              <a:t>6 / 7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8686800" y="256032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задач сделано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8915400" y="32004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9C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8D9C5"/>
                </a:solidFill>
                <a:latin typeface="Arial"/>
                <a:ea typeface="Arial"/>
                <a:cs typeface="Arial"/>
                <a:sym typeface="Arial"/>
              </a:rPr>
              <a:t>Спринт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8915400" y="3566160"/>
            <a:ext cx="23774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Влить ветки fleet в main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Фоновая проверка на сервере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Письма в СБ после «Да»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Тест на макете, 5 участников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Выбор LLM на 20–30 вопросах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github.com/ErmakovDenis/petrovich: main и ветки fleet/step-1…4 (07–08.10.2026), бизнес-требования, описание экранов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fmla="val 4348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Боль клиента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77240" y="1371600"/>
            <a:ext cx="3931920" cy="4663440"/>
          </a:xfrm>
          <a:prstGeom prst="roundRect">
            <a:avLst>
              <a:gd fmla="val 4186" name="adj"/>
            </a:avLst>
          </a:prstGeom>
          <a:solidFill>
            <a:srgbClr val="2A2D34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 txBox="1"/>
          <p:nvPr/>
        </p:nvSpPr>
        <p:spPr>
          <a:xfrm>
            <a:off x="1005840" y="15087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9C5"/>
              </a:buClr>
              <a:buSzPts val="1100"/>
              <a:buFont typeface="Arial"/>
              <a:buNone/>
            </a:pPr>
            <a:r>
              <a:rPr b="1" i="0" lang="en-US" spc="300" sz="1100" u="none" cap="none" strike="noStrike">
                <a:solidFill>
                  <a:srgbClr val="B8D9C5"/>
                </a:solidFill>
                <a:latin typeface="Arial"/>
                <a:ea typeface="Arial"/>
                <a:cs typeface="Arial"/>
                <a:sym typeface="Arial"/>
              </a:rPr>
              <a:t>КТО КЛИЕНТ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1005840" y="182880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Владелец парка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 10–50 машин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1005840" y="288036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2D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DD2D7"/>
                </a:solidFill>
                <a:latin typeface="Arial"/>
                <a:ea typeface="Arial"/>
                <a:cs typeface="Arial"/>
                <a:sym typeface="Arial"/>
              </a:rPr>
              <a:t>Подключён к АвтоГРАФ · смотрит всё с телефона · в отчётах разбираться не хочет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1005840" y="38404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9C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8D9C5"/>
                </a:solidFill>
                <a:latin typeface="Arial"/>
                <a:ea typeface="Arial"/>
                <a:cs typeface="Arial"/>
                <a:sym typeface="Arial"/>
              </a:rPr>
              <a:t>Его вопросы: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1005840" y="4160520"/>
            <a:ext cx="3474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«Сколько потратили?»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«Сколько заработали?»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«Что у меня не так?»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4983480" y="1371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453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D2453B"/>
                </a:solidFill>
                <a:latin typeface="Arial"/>
                <a:ea typeface="Arial"/>
                <a:cs typeface="Arial"/>
                <a:sym typeface="Arial"/>
              </a:rPr>
              <a:t>Что болит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983480" y="1783080"/>
            <a:ext cx="6400800" cy="969264"/>
          </a:xfrm>
          <a:prstGeom prst="roundRect">
            <a:avLst>
              <a:gd fmla="val 1698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 txBox="1"/>
          <p:nvPr/>
        </p:nvSpPr>
        <p:spPr>
          <a:xfrm>
            <a:off x="5212080" y="1874520"/>
            <a:ext cx="6035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Отчёты сложные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5212080" y="224028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Литры и графики, из которых не следует, что делать. «Данные остаются просто цифрами»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983480" y="2862072"/>
            <a:ext cx="6400800" cy="969264"/>
          </a:xfrm>
          <a:prstGeom prst="roundRect">
            <a:avLst>
              <a:gd fmla="val 1698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5212080" y="2953512"/>
            <a:ext cx="6035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Аналитик — дорого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5212080" y="3319272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При 10–50 машинах держать человека для разбора отчётов невыгодно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983480" y="3941064"/>
            <a:ext cx="6400800" cy="969264"/>
          </a:xfrm>
          <a:prstGeom prst="roundRect">
            <a:avLst>
              <a:gd fmla="val 1698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 txBox="1"/>
          <p:nvPr/>
        </p:nvSpPr>
        <p:spPr>
          <a:xfrm>
            <a:off x="5212080" y="4032504"/>
            <a:ext cx="6035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Мобильные приложения — для диспетчера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5212080" y="4398264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Карта, треки, отчёты; ответа «что не так» нет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983480" y="5020056"/>
            <a:ext cx="6400800" cy="969264"/>
          </a:xfrm>
          <a:prstGeom prst="roundRect">
            <a:avLst>
              <a:gd fmla="val 1698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5212080" y="5111496"/>
            <a:ext cx="6035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Узнаёт поздно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5212080" y="5477256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О сливах, перерасходе и простоях — через несколько дней, когда деньги уже потеряны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Бизнес-требования к MVP (28.09.2026); Analiz/reserch.md; анализ App Store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fmla="val 4348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Ценность: «Петрович» следит за парком и помогает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77240" y="1371600"/>
            <a:ext cx="10607040" cy="868680"/>
          </a:xfrm>
          <a:prstGeom prst="roundRect">
            <a:avLst>
              <a:gd fmla="val 1894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1005840" y="1371600"/>
            <a:ext cx="10149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Цель MVP: </a:t>
            </a:r>
            <a:r>
              <a:rPr b="1" i="0" lang="en-US" sz="16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владелец за 10 секунд понимает, всё ли в порядке, какая проблема и что делать — и может сразу начать разбираться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777240" y="24231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45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2453B"/>
                </a:solidFill>
                <a:latin typeface="Arial"/>
                <a:ea typeface="Arial"/>
                <a:cs typeface="Arial"/>
                <a:sym typeface="Arial"/>
              </a:rPr>
              <a:t>Как сейчас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6309360" y="24231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Как с «Петровичем»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77240" y="2788920"/>
            <a:ext cx="5120640" cy="694944"/>
          </a:xfrm>
          <a:prstGeom prst="roundRect">
            <a:avLst>
              <a:gd fmla="val 23684" name="adj"/>
            </a:avLst>
          </a:prstGeom>
          <a:solidFill>
            <a:srgbClr val="FBE7E5"/>
          </a:solidFill>
          <a:ln cap="flat" cmpd="sng" w="12700">
            <a:solidFill>
              <a:srgbClr val="FBE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960120" y="2788920"/>
            <a:ext cx="4754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Узнаёт о сливе случайно, через несколько дней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5943600" y="3136392"/>
            <a:ext cx="320040" cy="0"/>
          </a:xfrm>
          <a:prstGeom prst="straightConnector1">
            <a:avLst/>
          </a:prstGeom>
          <a:noFill/>
          <a:ln cap="flat" cmpd="sng" w="22225">
            <a:solidFill>
              <a:srgbClr val="2F8F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" name="Google Shape;112;p4"/>
          <p:cNvSpPr/>
          <p:nvPr/>
        </p:nvSpPr>
        <p:spPr>
          <a:xfrm>
            <a:off x="6309360" y="2788920"/>
            <a:ext cx="5074920" cy="694944"/>
          </a:xfrm>
          <a:prstGeom prst="roundRect">
            <a:avLst>
              <a:gd fmla="val 23684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6492240" y="2788920"/>
            <a:ext cx="4754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Получает сообщение в течение 15 минут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77240" y="3593592"/>
            <a:ext cx="5120640" cy="694944"/>
          </a:xfrm>
          <a:prstGeom prst="roundRect">
            <a:avLst>
              <a:gd fmla="val 23684" name="adj"/>
            </a:avLst>
          </a:prstGeom>
          <a:solidFill>
            <a:srgbClr val="FBE7E5"/>
          </a:solidFill>
          <a:ln cap="flat" cmpd="sng" w="12700">
            <a:solidFill>
              <a:srgbClr val="FBE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960120" y="3593592"/>
            <a:ext cx="4754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Видит литры и графики, которые не понимает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5943600" y="3941064"/>
            <a:ext cx="320040" cy="0"/>
          </a:xfrm>
          <a:prstGeom prst="straightConnector1">
            <a:avLst/>
          </a:prstGeom>
          <a:noFill/>
          <a:ln cap="flat" cmpd="sng" w="22225">
            <a:solidFill>
              <a:srgbClr val="2F8F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" name="Google Shape;117;p4"/>
          <p:cNvSpPr/>
          <p:nvPr/>
        </p:nvSpPr>
        <p:spPr>
          <a:xfrm>
            <a:off x="6309360" y="3593592"/>
            <a:ext cx="5074920" cy="694944"/>
          </a:xfrm>
          <a:prstGeom prst="roundRect">
            <a:avLst>
              <a:gd fmla="val 23684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6492240" y="3593592"/>
            <a:ext cx="4754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Видит вывод одной фразой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777240" y="4398264"/>
            <a:ext cx="5120640" cy="694944"/>
          </a:xfrm>
          <a:prstGeom prst="roundRect">
            <a:avLst>
              <a:gd fmla="val 23684" name="adj"/>
            </a:avLst>
          </a:prstGeom>
          <a:solidFill>
            <a:srgbClr val="FBE7E5"/>
          </a:solidFill>
          <a:ln cap="flat" cmpd="sng" w="12700">
            <a:solidFill>
              <a:srgbClr val="FBE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960120" y="4398264"/>
            <a:ext cx="4754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Звонит в «Техноком» и ждёт аналитика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5943600" y="4745736"/>
            <a:ext cx="320040" cy="0"/>
          </a:xfrm>
          <a:prstGeom prst="straightConnector1">
            <a:avLst/>
          </a:prstGeom>
          <a:noFill/>
          <a:ln cap="flat" cmpd="sng" w="22225">
            <a:solidFill>
              <a:srgbClr val="2F8F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" name="Google Shape;122;p4"/>
          <p:cNvSpPr/>
          <p:nvPr/>
        </p:nvSpPr>
        <p:spPr>
          <a:xfrm>
            <a:off x="6309360" y="4398264"/>
            <a:ext cx="5074920" cy="694944"/>
          </a:xfrm>
          <a:prstGeom prst="roundRect">
            <a:avLst>
              <a:gd fmla="val 23684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6492240" y="4398264"/>
            <a:ext cx="4754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Спрашивает Петровича и сразу получает ответ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777240" y="5202936"/>
            <a:ext cx="5120640" cy="694944"/>
          </a:xfrm>
          <a:prstGeom prst="roundRect">
            <a:avLst>
              <a:gd fmla="val 23684" name="adj"/>
            </a:avLst>
          </a:prstGeom>
          <a:solidFill>
            <a:srgbClr val="FBE7E5"/>
          </a:solidFill>
          <a:ln cap="flat" cmpd="sng" w="12700">
            <a:solidFill>
              <a:srgbClr val="FBE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960120" y="5202936"/>
            <a:ext cx="4754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Пересказывает ситуацию СБ по телефону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5943600" y="5550408"/>
            <a:ext cx="320040" cy="0"/>
          </a:xfrm>
          <a:prstGeom prst="straightConnector1">
            <a:avLst/>
          </a:prstGeom>
          <a:noFill/>
          <a:ln cap="flat" cmpd="sng" w="22225">
            <a:solidFill>
              <a:srgbClr val="2F8F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" name="Google Shape;127;p4"/>
          <p:cNvSpPr/>
          <p:nvPr/>
        </p:nvSpPr>
        <p:spPr>
          <a:xfrm>
            <a:off x="6309360" y="5202936"/>
            <a:ext cx="5074920" cy="694944"/>
          </a:xfrm>
          <a:prstGeom prst="roundRect">
            <a:avLst>
              <a:gd fmla="val 23684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6492240" y="5202936"/>
            <a:ext cx="4754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Отправляет доказательства в СБ одной кнопкой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Бизнес-требования к MVP, раздел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fmla="val 4348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E1F21"/>
                </a:solidFill>
              </a:rPr>
              <a:t>Ч</a:t>
            </a:r>
            <a:r>
              <a:rPr b="1" i="0" lang="en-US" sz="28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ат-бот «Петрович»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777240" y="1371600"/>
            <a:ext cx="4846320" cy="3063240"/>
          </a:xfrm>
          <a:prstGeom prst="roundRect">
            <a:avLst>
              <a:gd fmla="val 537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960120" y="1463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Диалог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2926080" y="1783080"/>
            <a:ext cx="2514600" cy="457200"/>
          </a:xfrm>
          <a:prstGeom prst="roundRect">
            <a:avLst>
              <a:gd fmla="val 40000" name="adj"/>
            </a:avLst>
          </a:prstGeom>
          <a:solidFill>
            <a:srgbClr val="4A6CF7"/>
          </a:solidFill>
          <a:ln cap="flat" cmpd="sng" w="12700">
            <a:solidFill>
              <a:srgbClr val="4A6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3017520" y="17830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Что у меня не так?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960120" y="2377440"/>
            <a:ext cx="384048" cy="384048"/>
          </a:xfrm>
          <a:prstGeom prst="ellipse">
            <a:avLst/>
          </a:prstGeom>
          <a:solidFill>
            <a:srgbClr val="2F8F5B"/>
          </a:solidFill>
          <a:ln cap="flat" cmpd="sng" w="12700">
            <a:solidFill>
              <a:srgbClr val="2F8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960120" y="2377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1463040" y="2331720"/>
            <a:ext cx="3977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Главное — вероятный слив на Х452 ночью: ушло 140 л. Ещё две машины с расходом выше обычного. Разобраться с Х452?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463040" y="3429000"/>
            <a:ext cx="1691640" cy="384048"/>
          </a:xfrm>
          <a:prstGeom prst="roundRect">
            <a:avLst>
              <a:gd fmla="val 28571" name="adj"/>
            </a:avLst>
          </a:prstGeom>
          <a:solidFill>
            <a:srgbClr val="2A2D34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1463040" y="342900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Разобраться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246120" y="3429000"/>
            <a:ext cx="1691640" cy="384048"/>
          </a:xfrm>
          <a:prstGeom prst="roundRect">
            <a:avLst>
              <a:gd fmla="val 28571" name="adj"/>
            </a:avLst>
          </a:prstGeom>
          <a:solidFill>
            <a:srgbClr val="FFFFFF"/>
          </a:solidFill>
          <a:ln cap="flat" cmpd="sng" w="12700">
            <a:solidFill>
              <a:srgbClr val="D9DA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3246120" y="342900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Позже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960120" y="3886200"/>
            <a:ext cx="4526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Если данных нет: «Сказать не могу — датчик топлива на Х118 не отвечает с 12.09. Передать механику?»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897880" y="1371600"/>
            <a:ext cx="2651760" cy="932688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6035040" y="1444752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Короткие ответы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6035040" y="1755648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«Что у меня не так?» → топ-3 проблемы, ≤ 3 предложений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659368" y="1371600"/>
            <a:ext cx="2651760" cy="932688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8796528" y="1444752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Утренняя сводка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8796528" y="1755648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в 8:00, не длиннее 5 строк; срочное — не больше 3 в день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897880" y="2404872"/>
            <a:ext cx="2651760" cy="932688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6035040" y="2478024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Разбор вместе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6035040" y="2788920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«Разберись» → что случилось, доказательства, варианты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8659368" y="2404872"/>
            <a:ext cx="2651760" cy="932688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8796528" y="2478024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Звонки и письма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8796528" y="2788920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в СБ и «Техноком» — только после «Да» владельца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897880" y="3438144"/>
            <a:ext cx="2651760" cy="932688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6035040" y="3511296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Память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6035040" y="3822192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помнит прошлые случаи по каждой машине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8659368" y="3438144"/>
            <a:ext cx="2651760" cy="932688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8796528" y="3511296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Свои виджеты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8796528" y="3822192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«Добавь на главную расход по грузовым» — одной фразой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777240" y="45720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Как говорит Петрович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777240" y="4937760"/>
            <a:ext cx="5120640" cy="1097280"/>
          </a:xfrm>
          <a:prstGeom prst="roundRect">
            <a:avLst>
              <a:gd fmla="val 15000" name="adj"/>
            </a:avLst>
          </a:prstGeom>
          <a:solidFill>
            <a:srgbClr val="FBE7E5"/>
          </a:solidFill>
          <a:ln cap="flat" cmpd="sng" w="12700">
            <a:solidFill>
              <a:srgbClr val="FBE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960120" y="4937760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453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D2453B"/>
                </a:solidFill>
                <a:latin typeface="Arial"/>
                <a:ea typeface="Arial"/>
                <a:cs typeface="Arial"/>
                <a:sym typeface="Arial"/>
              </a:rPr>
              <a:t>Так не надо: </a:t>
            </a:r>
            <a:r>
              <a:rPr b="0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«Зафиксировано 47 событий типа “слив” за период 17.09–23.09»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035040" y="4937760"/>
            <a:ext cx="5349240" cy="1097280"/>
          </a:xfrm>
          <a:prstGeom prst="roundRect">
            <a:avLst>
              <a:gd fmla="val 15000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 txBox="1"/>
          <p:nvPr/>
        </p:nvSpPr>
        <p:spPr>
          <a:xfrm>
            <a:off x="6217920" y="4937760"/>
            <a:ext cx="5029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Так надо: </a:t>
            </a:r>
            <a:r>
              <a:rPr b="0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«Главное — сливы на Северной базе: 9 случаев. Разобраться?» Вывод → что делать, на «вы», без терминов, никого не обвиняет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Бизнес-требования к MVP, разделы 3–5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fmla="val 4348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Кабинетные исследования: коротко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777240" y="13258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Что узнали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8229600" y="13258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Что это значит для приложения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777240" y="1719072"/>
            <a:ext cx="7223760" cy="768096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960120" y="1719072"/>
            <a:ext cx="26517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«Данные есть — толку нет»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3611880" y="1719072"/>
            <a:ext cx="42976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Владельцы не пользуются отчётами; рынок платит аутсорс-аналитикам за разбор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6"/>
          <p:cNvCxnSpPr/>
          <p:nvPr/>
        </p:nvCxnSpPr>
        <p:spPr>
          <a:xfrm>
            <a:off x="8046720" y="2103120"/>
            <a:ext cx="155448" cy="0"/>
          </a:xfrm>
          <a:prstGeom prst="straightConnector1">
            <a:avLst/>
          </a:prstGeom>
          <a:noFill/>
          <a:ln cap="flat" cmpd="sng" w="22225">
            <a:solidFill>
              <a:srgbClr val="2F8F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" name="Google Shape;186;p6"/>
          <p:cNvSpPr/>
          <p:nvPr/>
        </p:nvSpPr>
        <p:spPr>
          <a:xfrm>
            <a:off x="8229600" y="1719072"/>
            <a:ext cx="3154680" cy="768096"/>
          </a:xfrm>
          <a:prstGeom prst="roundRect">
            <a:avLst>
              <a:gd fmla="val 21429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8366760" y="1719072"/>
            <a:ext cx="29260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нужен ответ, а не отчёт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777240" y="2587752"/>
            <a:ext cx="7223760" cy="768096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960120" y="2587752"/>
            <a:ext cx="26517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В РФ нет ассистента для владельца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3611880" y="2587752"/>
            <a:ext cx="42976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Motive, Samsara, Geotab объясняют данные словами — но в России не работают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6"/>
          <p:cNvCxnSpPr/>
          <p:nvPr/>
        </p:nvCxnSpPr>
        <p:spPr>
          <a:xfrm>
            <a:off x="8046720" y="2971800"/>
            <a:ext cx="155448" cy="0"/>
          </a:xfrm>
          <a:prstGeom prst="straightConnector1">
            <a:avLst/>
          </a:prstGeom>
          <a:noFill/>
          <a:ln cap="flat" cmpd="sng" w="22225">
            <a:solidFill>
              <a:srgbClr val="2F8F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2" name="Google Shape;192;p6"/>
          <p:cNvSpPr/>
          <p:nvPr/>
        </p:nvSpPr>
        <p:spPr>
          <a:xfrm>
            <a:off x="8229600" y="2587752"/>
            <a:ext cx="3154680" cy="768096"/>
          </a:xfrm>
          <a:prstGeom prst="roundRect">
            <a:avLst>
              <a:gd fmla="val 21429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8366760" y="2587752"/>
            <a:ext cx="29260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ниша свободна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777240" y="3456432"/>
            <a:ext cx="7223760" cy="768096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960120" y="3456432"/>
            <a:ext cx="26517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Ложные тревоги убивают доверие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3611880" y="3456432"/>
            <a:ext cx="42976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Уведомления о «сливах» так часто ошибаются, что их отключают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6"/>
          <p:cNvCxnSpPr/>
          <p:nvPr/>
        </p:nvCxnSpPr>
        <p:spPr>
          <a:xfrm>
            <a:off x="8046720" y="3840480"/>
            <a:ext cx="155448" cy="0"/>
          </a:xfrm>
          <a:prstGeom prst="straightConnector1">
            <a:avLst/>
          </a:prstGeom>
          <a:noFill/>
          <a:ln cap="flat" cmpd="sng" w="22225">
            <a:solidFill>
              <a:srgbClr val="2F8F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8" name="Google Shape;198;p6"/>
          <p:cNvSpPr/>
          <p:nvPr/>
        </p:nvSpPr>
        <p:spPr>
          <a:xfrm>
            <a:off x="8229600" y="3456432"/>
            <a:ext cx="3154680" cy="768096"/>
          </a:xfrm>
          <a:prstGeom prst="roundRect">
            <a:avLst>
              <a:gd fmla="val 21429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8366760" y="3456432"/>
            <a:ext cx="29260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≤ 3 срочных в день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777240" y="4325112"/>
            <a:ext cx="7223760" cy="768096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960120" y="4325112"/>
            <a:ext cx="26517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Данные неидеальны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3611880" y="4325112"/>
            <a:ext cx="42976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Пропуски связи, молчащие датчики топлива (на реальном файле — 72 % пропусков)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6"/>
          <p:cNvCxnSpPr/>
          <p:nvPr/>
        </p:nvCxnSpPr>
        <p:spPr>
          <a:xfrm>
            <a:off x="8046720" y="4709160"/>
            <a:ext cx="155448" cy="0"/>
          </a:xfrm>
          <a:prstGeom prst="straightConnector1">
            <a:avLst/>
          </a:prstGeom>
          <a:noFill/>
          <a:ln cap="flat" cmpd="sng" w="22225">
            <a:solidFill>
              <a:srgbClr val="2F8F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4" name="Google Shape;204;p6"/>
          <p:cNvSpPr/>
          <p:nvPr/>
        </p:nvSpPr>
        <p:spPr>
          <a:xfrm>
            <a:off x="8229600" y="4325112"/>
            <a:ext cx="3154680" cy="768096"/>
          </a:xfrm>
          <a:prstGeom prst="roundRect">
            <a:avLst>
              <a:gd fmla="val 21429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8366760" y="4325112"/>
            <a:ext cx="29260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честное «нет данных»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777240" y="5193792"/>
            <a:ext cx="7223760" cy="768096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960120" y="5193792"/>
            <a:ext cx="26517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Персональные данные (152-ФЗ)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3611880" y="5193792"/>
            <a:ext cx="42976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Геолокация и ФИО водителя; передача за рубеж — штраф до 300 тыс. ₽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6"/>
          <p:cNvCxnSpPr/>
          <p:nvPr/>
        </p:nvCxnSpPr>
        <p:spPr>
          <a:xfrm>
            <a:off x="8046720" y="5577840"/>
            <a:ext cx="155448" cy="0"/>
          </a:xfrm>
          <a:prstGeom prst="straightConnector1">
            <a:avLst/>
          </a:prstGeom>
          <a:noFill/>
          <a:ln cap="flat" cmpd="sng" w="22225">
            <a:solidFill>
              <a:srgbClr val="2F8F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0" name="Google Shape;210;p6"/>
          <p:cNvSpPr/>
          <p:nvPr/>
        </p:nvSpPr>
        <p:spPr>
          <a:xfrm>
            <a:off x="8229600" y="5193792"/>
            <a:ext cx="3154680" cy="768096"/>
          </a:xfrm>
          <a:prstGeom prst="roundRect">
            <a:avLst>
              <a:gd fmla="val 21429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8366760" y="5193792"/>
            <a:ext cx="29260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ФИО — не в AI-модель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Analiz/reserch.md, Analiz/conkyrentnyy-analyz.md, Problem Space.md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fmla="val 4348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Сравнение мобильных приложений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0" name="Google Shape;220;p7"/>
          <p:cNvGraphicFramePr/>
          <p:nvPr/>
        </p:nvGraphicFramePr>
        <p:xfrm>
          <a:off x="77724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{438DB6C8-1CD0-481D-BF0D-E1EA620C3BA8}</a:tableStyleId>
              </a:tblPr>
              <a:tblGrid>
                <a:gridCol w="3383275"/>
                <a:gridCol w="1143000"/>
                <a:gridCol w="1417325"/>
                <a:gridCol w="1005850"/>
              </a:tblGrid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E7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B6E73"/>
                          </a:solidFill>
                        </a:rPr>
                        <a:t>Функция  /  Приложение</a:t>
                      </a:r>
                      <a:endParaRPr sz="11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Wialon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AutoGRAPH Mobile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«Петрович»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Список машин, папки по подразделениям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Карта, трек, проигрывание маршрута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E7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6B6E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 карточке машины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Поездки, стоянки, заправки и сливы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Отчёты по поездкам и сливам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453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E7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6B6E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доклад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Команды на объект (сообщения, маршруты)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453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453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6CF7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A6CF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Вывод простым языком: «что не так»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453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453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6CF7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A6CF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Чат-бот, вопросы голосом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453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453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6CF7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A6CF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Утренняя сводка, срочное — не больше 3 в день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453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453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6CF7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A6CF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Письмо / звонок в СБ по событию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453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2453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1" name="Google Shape;221;p7"/>
          <p:cNvSpPr/>
          <p:nvPr/>
        </p:nvSpPr>
        <p:spPr>
          <a:xfrm>
            <a:off x="7955280" y="1325880"/>
            <a:ext cx="3429000" cy="219456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 txBox="1"/>
          <p:nvPr/>
        </p:nvSpPr>
        <p:spPr>
          <a:xfrm>
            <a:off x="8138160" y="141732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Wialon · Gurtam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8138160" y="17099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4,7 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9464040" y="173736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2 700 оценок · обновлено недавно (2.22.27)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8138160" y="2286000"/>
            <a:ext cx="31089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«В России не работает, деньги на ветер!» · «Перестало работать!!!»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7955280" y="3657600"/>
            <a:ext cx="3429000" cy="219456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8138160" y="374904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AutoGRAPH.Mobile · Техноком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8138160" y="404164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45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2453B"/>
                </a:solidFill>
                <a:latin typeface="Arial"/>
                <a:ea typeface="Arial"/>
                <a:cs typeface="Arial"/>
                <a:sym typeface="Arial"/>
              </a:rPr>
              <a:t>2,9 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9464040" y="406908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105 оценок · последнее обновление 23.01.2024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 txBox="1"/>
          <p:nvPr/>
        </p:nvSpPr>
        <p:spPr>
          <a:xfrm>
            <a:off x="8138160" y="4617720"/>
            <a:ext cx="31089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«С мобильным интернетом вообще не ладит, только вайфай» · карта «приближает в случайную точку»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777240" y="5440680"/>
            <a:ext cx="6949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Вывод: </a:t>
            </a: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аналоги — инструмент диспетчера (карта, треки, отчёты). </a:t>
            </a:r>
            <a:r>
              <a:rPr b="1" i="0" lang="en-US" sz="12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Мы делаем приложение для владельца: ответ «что не так» и чат-бот.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App Store: apps.apple.com/ru/app/wialon/id960699792, apps.apple.com/ru/app/autograph-mobile/id628312992 (данные на 07.10.2026)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fmla="val 4348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Гипотезы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777240" y="129844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Продуктовые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6153912" y="129844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C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A6CF7"/>
                </a:solidFill>
                <a:latin typeface="Arial"/>
                <a:ea typeface="Arial"/>
                <a:cs typeface="Arial"/>
                <a:sym typeface="Arial"/>
              </a:rPr>
              <a:t>Технические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77240" y="1691640"/>
            <a:ext cx="5230368" cy="777240"/>
          </a:xfrm>
          <a:prstGeom prst="roundRect">
            <a:avLst>
              <a:gd fmla="val 2117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 txBox="1"/>
          <p:nvPr/>
        </p:nvSpPr>
        <p:spPr>
          <a:xfrm>
            <a:off x="960120" y="169164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П1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1554480" y="1746504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Владелец понимает статус парка за ≤ 10 с на главном экране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1554480" y="217627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Проверка: тест на макете, 5 человек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777240" y="2560320"/>
            <a:ext cx="5230368" cy="777240"/>
          </a:xfrm>
          <a:prstGeom prst="roundRect">
            <a:avLst>
              <a:gd fmla="val 2117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 txBox="1"/>
          <p:nvPr/>
        </p:nvSpPr>
        <p:spPr>
          <a:xfrm>
            <a:off x="960120" y="256032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П2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1554480" y="2615184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Чтобы узнать «что не так», владелец выберет чат, а не отчёт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1554480" y="304495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Проверка: задание на тесте: что выберут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777240" y="3429000"/>
            <a:ext cx="5230368" cy="777240"/>
          </a:xfrm>
          <a:prstGeom prst="roundRect">
            <a:avLst>
              <a:gd fmla="val 2117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 txBox="1"/>
          <p:nvPr/>
        </p:nvSpPr>
        <p:spPr>
          <a:xfrm>
            <a:off x="960120" y="342900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П3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1554480" y="3483864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Ответ в ≤ 3 предложениях понятнее графиков и таблиц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1554480" y="391363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Проверка: опрос после теста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777240" y="4297680"/>
            <a:ext cx="5230368" cy="777240"/>
          </a:xfrm>
          <a:prstGeom prst="roundRect">
            <a:avLst>
              <a:gd fmla="val 2117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 txBox="1"/>
          <p:nvPr/>
        </p:nvSpPr>
        <p:spPr>
          <a:xfrm>
            <a:off x="960120" y="429768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П4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1554480" y="4352544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Спросить голосом удобнее, чем набирать текст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1554480" y="478231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Проверка: наблюдение на тесте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777240" y="5166360"/>
            <a:ext cx="5230368" cy="777240"/>
          </a:xfrm>
          <a:prstGeom prst="roundRect">
            <a:avLst>
              <a:gd fmla="val 2117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 txBox="1"/>
          <p:nvPr/>
        </p:nvSpPr>
        <p:spPr>
          <a:xfrm>
            <a:off x="960120" y="516636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П5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1554480" y="5221224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Письмо и звонок в СБ из приложения нужны владельцу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1554480" y="565099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Проверка: интервью с заказчиком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153912" y="1691640"/>
            <a:ext cx="5230368" cy="777240"/>
          </a:xfrm>
          <a:prstGeom prst="roundRect">
            <a:avLst>
              <a:gd fmla="val 2117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 txBox="1"/>
          <p:nvPr/>
        </p:nvSpPr>
        <p:spPr>
          <a:xfrm>
            <a:off x="6336792" y="169164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C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A6CF7"/>
                </a:solidFill>
                <a:latin typeface="Arial"/>
                <a:ea typeface="Arial"/>
                <a:cs typeface="Arial"/>
                <a:sym typeface="Arial"/>
              </a:rPr>
              <a:t>Т1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6931152" y="1746504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LLM с вызовом инструментов отвечает без выдуманных цифр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6931152" y="217627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Проверка: 20–30 тестовых вопросов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6153912" y="2560320"/>
            <a:ext cx="5230368" cy="777240"/>
          </a:xfrm>
          <a:prstGeom prst="roundRect">
            <a:avLst>
              <a:gd fmla="val 2117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 txBox="1"/>
          <p:nvPr/>
        </p:nvSpPr>
        <p:spPr>
          <a:xfrm>
            <a:off x="6336792" y="256032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C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A6CF7"/>
                </a:solidFill>
                <a:latin typeface="Arial"/>
                <a:ea typeface="Arial"/>
                <a:cs typeface="Arial"/>
                <a:sym typeface="Arial"/>
              </a:rPr>
              <a:t>Т2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6931152" y="2615184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Ответ через сервер приходит за ≤ 5 с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6931152" y="304495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Проверка: замер на стенде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6153912" y="3429000"/>
            <a:ext cx="5230368" cy="777240"/>
          </a:xfrm>
          <a:prstGeom prst="roundRect">
            <a:avLst>
              <a:gd fmla="val 2117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 txBox="1"/>
          <p:nvPr/>
        </p:nvSpPr>
        <p:spPr>
          <a:xfrm>
            <a:off x="6336792" y="342900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C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A6CF7"/>
                </a:solidFill>
                <a:latin typeface="Arial"/>
                <a:ea typeface="Arial"/>
                <a:cs typeface="Arial"/>
                <a:sym typeface="Arial"/>
              </a:rPr>
              <a:t>Т3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6931152" y="3483864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Данных АвтоГРАФ хватает для сводки и карточки события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6931152" y="391363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Проверка: прототип на 7 машинах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6153912" y="4297680"/>
            <a:ext cx="5230368" cy="777240"/>
          </a:xfrm>
          <a:prstGeom prst="roundRect">
            <a:avLst>
              <a:gd fmla="val 2117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 txBox="1"/>
          <p:nvPr/>
        </p:nvSpPr>
        <p:spPr>
          <a:xfrm>
            <a:off x="6336792" y="429768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C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A6CF7"/>
                </a:solidFill>
                <a:latin typeface="Arial"/>
                <a:ea typeface="Arial"/>
                <a:cs typeface="Arial"/>
                <a:sym typeface="Arial"/>
              </a:rPr>
              <a:t>Т4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6931152" y="4352544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Без ФИО в промпте можно использовать облачную LLM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6931152" y="478231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Проверка: проверка запросов к модели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6153912" y="5166360"/>
            <a:ext cx="5230368" cy="777240"/>
          </a:xfrm>
          <a:prstGeom prst="roundRect">
            <a:avLst>
              <a:gd fmla="val 2117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 txBox="1"/>
          <p:nvPr/>
        </p:nvSpPr>
        <p:spPr>
          <a:xfrm>
            <a:off x="6336792" y="516636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C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A6CF7"/>
                </a:solidFill>
                <a:latin typeface="Arial"/>
                <a:ea typeface="Arial"/>
                <a:cs typeface="Arial"/>
                <a:sym typeface="Arial"/>
              </a:rPr>
              <a:t>Т5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6931152" y="5221224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Простых правил хватает, чтобы Петровичу было о чём сообщить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6931152" y="565099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Проверка: прогон на реальных данных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Бизнес-требования к MVP, ml/docs/assistant-server-plan.md · все гипотезы открыты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fmla="val 4348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Метрики, которые проверим сами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0" name="Google Shape;290;p9"/>
          <p:cNvGraphicFramePr/>
          <p:nvPr/>
        </p:nvGraphicFramePr>
        <p:xfrm>
          <a:off x="77724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{438DB6C8-1CD0-481D-BF0D-E1EA620C3BA8}</a:tableStyleId>
              </a:tblPr>
              <a:tblGrid>
                <a:gridCol w="4480550"/>
                <a:gridCol w="2194550"/>
                <a:gridCol w="3931925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Метрика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Цель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Как проверим сами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Понять, есть ли проблема, на главном экране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≤ 10 с у 4 из 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Юзабилити-тест на макете, 5 участников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Ответ чат-бота на простой вопрос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≤ 5 с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Замер на стенде, 20 запросов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Выдуманные цифры в ответах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20–30 тестовых вопросов, проверка вручную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Короткие ответы (≤ 3 предложений)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≥ 90 %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Тот же набор вопросов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Сценарии MVP работают от начала до конца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 из 8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Чек-лист сценариев на демо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Главный экран открывается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≤ 2 с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Замер на эмуляторе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Автотесты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8F5B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100 % проходят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pytest и gradle test; сейчас 187 + 46 тестов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300" marB="82300" marR="82300" marL="8230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1" name="Google Shape;291;p9"/>
          <p:cNvSpPr/>
          <p:nvPr/>
        </p:nvSpPr>
        <p:spPr>
          <a:xfrm>
            <a:off x="777240" y="5486400"/>
            <a:ext cx="10607040" cy="566928"/>
          </a:xfrm>
          <a:prstGeom prst="roundRect">
            <a:avLst>
              <a:gd fmla="val 2903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 txBox="1"/>
          <p:nvPr/>
        </p:nvSpPr>
        <p:spPr>
          <a:xfrm>
            <a:off x="960120" y="5486400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CF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4A6CF7"/>
                </a:solidFill>
                <a:latin typeface="Arial"/>
                <a:ea typeface="Arial"/>
                <a:cs typeface="Arial"/>
                <a:sym typeface="Arial"/>
              </a:rPr>
              <a:t>После пилота с заказчиком: </a:t>
            </a:r>
            <a:r>
              <a:rPr b="0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доля подтвердившихся сигналов ≥ 70 % и пользуются через 4 недели ≥ 60 % владельцев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Цели из бизнес-требований к MVP (10 с, 5 с, 2 с, ≤ 3 предложений), адаптированы под студенческий проект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fmla="val 4348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Android: что сделали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777240" y="13258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7 экранов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777240" y="1719072"/>
            <a:ext cx="5120640" cy="475488"/>
          </a:xfrm>
          <a:prstGeom prst="roundRect">
            <a:avLst>
              <a:gd fmla="val 1923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 txBox="1"/>
          <p:nvPr/>
        </p:nvSpPr>
        <p:spPr>
          <a:xfrm>
            <a:off x="914400" y="1719072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1280160" y="1719072"/>
            <a:ext cx="4526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Первый запуск: вход в АвтоГРАФ или демо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777240" y="2267712"/>
            <a:ext cx="5120640" cy="475488"/>
          </a:xfrm>
          <a:prstGeom prst="roundRect">
            <a:avLst>
              <a:gd fmla="val 1923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 txBox="1"/>
          <p:nvPr/>
        </p:nvSpPr>
        <p:spPr>
          <a:xfrm>
            <a:off x="914400" y="2267712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 txBox="1"/>
          <p:nvPr/>
        </p:nvSpPr>
        <p:spPr>
          <a:xfrm>
            <a:off x="1280160" y="2267712"/>
            <a:ext cx="4526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Сводка: доклад, «Слушать» (TTS), виджеты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777240" y="2816352"/>
            <a:ext cx="5120640" cy="475488"/>
          </a:xfrm>
          <a:prstGeom prst="roundRect">
            <a:avLst>
              <a:gd fmla="val 1923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 txBox="1"/>
          <p:nvPr/>
        </p:nvSpPr>
        <p:spPr>
          <a:xfrm>
            <a:off x="914400" y="2816352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 txBox="1"/>
          <p:nvPr/>
        </p:nvSpPr>
        <p:spPr>
          <a:xfrm>
            <a:off x="1280160" y="2816352"/>
            <a:ext cx="4526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Уведомления: лента по дням, фильтры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777240" y="3364992"/>
            <a:ext cx="5120640" cy="475488"/>
          </a:xfrm>
          <a:prstGeom prst="roundRect">
            <a:avLst>
              <a:gd fmla="val 1923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 txBox="1"/>
          <p:nvPr/>
        </p:nvSpPr>
        <p:spPr>
          <a:xfrm>
            <a:off x="914400" y="3364992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 txBox="1"/>
          <p:nvPr/>
        </p:nvSpPr>
        <p:spPr>
          <a:xfrm>
            <a:off x="1280160" y="3364992"/>
            <a:ext cx="4526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Карточка аномалии: график ±3 ч, решение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777240" y="3913632"/>
            <a:ext cx="5120640" cy="475488"/>
          </a:xfrm>
          <a:prstGeom prst="roundRect">
            <a:avLst>
              <a:gd fmla="val 1923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 txBox="1"/>
          <p:nvPr/>
        </p:nvSpPr>
        <p:spPr>
          <a:xfrm>
            <a:off x="914400" y="3913632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1280160" y="3913632"/>
            <a:ext cx="4526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Чат «Петрович» с контекстом аномалии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777240" y="4462272"/>
            <a:ext cx="5120640" cy="475488"/>
          </a:xfrm>
          <a:prstGeom prst="roundRect">
            <a:avLst>
              <a:gd fmla="val 1923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 txBox="1"/>
          <p:nvPr/>
        </p:nvSpPr>
        <p:spPr>
          <a:xfrm>
            <a:off x="914400" y="4462272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 txBox="1"/>
          <p:nvPr/>
        </p:nvSpPr>
        <p:spPr>
          <a:xfrm>
            <a:off x="1280160" y="4462272"/>
            <a:ext cx="4526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Таблицы и графики: 4 раздела, 6 ч – 7 дней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777240" y="5010912"/>
            <a:ext cx="5120640" cy="475488"/>
          </a:xfrm>
          <a:prstGeom prst="roundRect">
            <a:avLst>
              <a:gd fmla="val 1923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 txBox="1"/>
          <p:nvPr/>
        </p:nvSpPr>
        <p:spPr>
          <a:xfrm>
            <a:off x="914400" y="5010912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1280160" y="5010912"/>
            <a:ext cx="4526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Настройки и «Что присылать»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 txBox="1"/>
          <p:nvPr/>
        </p:nvSpPr>
        <p:spPr>
          <a:xfrm>
            <a:off x="6172200" y="13258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C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A6CF7"/>
                </a:solidFill>
                <a:latin typeface="Arial"/>
                <a:ea typeface="Arial"/>
                <a:cs typeface="Arial"/>
                <a:sym typeface="Arial"/>
              </a:rPr>
              <a:t>Под капотом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6208776" y="1808988"/>
            <a:ext cx="64008" cy="64008"/>
          </a:xfrm>
          <a:prstGeom prst="ellipse">
            <a:avLst/>
          </a:prstGeom>
          <a:solidFill>
            <a:srgbClr val="1E1F21"/>
          </a:solidFill>
          <a:ln cap="flat" cmpd="sng" w="12700">
            <a:solidFill>
              <a:srgbClr val="1E1F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 txBox="1"/>
          <p:nvPr/>
        </p:nvSpPr>
        <p:spPr>
          <a:xfrm>
            <a:off x="6446520" y="1737360"/>
            <a:ext cx="4937760" cy="421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Реальный API АвтоГРАФ (7 машин) + демо-режим на 10 машинах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6208776" y="2302637"/>
            <a:ext cx="64008" cy="64008"/>
          </a:xfrm>
          <a:prstGeom prst="ellipse">
            <a:avLst/>
          </a:prstGeom>
          <a:solidFill>
            <a:srgbClr val="1E1F21"/>
          </a:solidFill>
          <a:ln cap="flat" cmpd="sng" w="12700">
            <a:solidFill>
              <a:srgbClr val="1E1F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 txBox="1"/>
          <p:nvPr/>
        </p:nvSpPr>
        <p:spPr>
          <a:xfrm>
            <a:off x="6446520" y="2231009"/>
            <a:ext cx="4937760" cy="421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Потоковый разбор: только нужные параметры, части по 6 ч, gzip ~8×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6208776" y="2796286"/>
            <a:ext cx="64008" cy="64008"/>
          </a:xfrm>
          <a:prstGeom prst="ellipse">
            <a:avLst/>
          </a:prstGeom>
          <a:solidFill>
            <a:srgbClr val="1E1F21"/>
          </a:solidFill>
          <a:ln cap="flat" cmpd="sng" w="12700">
            <a:solidFill>
              <a:srgbClr val="1E1F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 txBox="1"/>
          <p:nvPr/>
        </p:nvSpPr>
        <p:spPr>
          <a:xfrm>
            <a:off x="6446520" y="2724658"/>
            <a:ext cx="4937760" cy="421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Агрегация 1 / 2 / 5 / 15 мин, дубли датчиков скрываются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6208776" y="3289935"/>
            <a:ext cx="64008" cy="64008"/>
          </a:xfrm>
          <a:prstGeom prst="ellipse">
            <a:avLst/>
          </a:prstGeom>
          <a:solidFill>
            <a:srgbClr val="1E1F21"/>
          </a:solidFill>
          <a:ln cap="flat" cmpd="sng" w="12700">
            <a:solidFill>
              <a:srgbClr val="1E1F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 txBox="1"/>
          <p:nvPr/>
        </p:nvSpPr>
        <p:spPr>
          <a:xfrm>
            <a:off x="6446520" y="3218307"/>
            <a:ext cx="4937760" cy="421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WorkManager каждые 15 мин, push только «предупреждение» и «критично»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6208776" y="3783584"/>
            <a:ext cx="64008" cy="64008"/>
          </a:xfrm>
          <a:prstGeom prst="ellipse">
            <a:avLst/>
          </a:prstGeom>
          <a:solidFill>
            <a:srgbClr val="1E1F21"/>
          </a:solidFill>
          <a:ln cap="flat" cmpd="sng" w="12700">
            <a:solidFill>
              <a:srgbClr val="1E1F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 txBox="1"/>
          <p:nvPr/>
        </p:nvSpPr>
        <p:spPr>
          <a:xfrm>
            <a:off x="6446520" y="3711956"/>
            <a:ext cx="4937760" cy="421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Решения «Подтвердить / Ложная» с причиной; через сервер видно, кто и когда решил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6208776" y="4277233"/>
            <a:ext cx="64008" cy="64008"/>
          </a:xfrm>
          <a:prstGeom prst="ellipse">
            <a:avLst/>
          </a:prstGeom>
          <a:solidFill>
            <a:srgbClr val="1E1F21"/>
          </a:solidFill>
          <a:ln cap="flat" cmpd="sng" w="12700">
            <a:solidFill>
              <a:srgbClr val="1E1F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 txBox="1"/>
          <p:nvPr/>
        </p:nvSpPr>
        <p:spPr>
          <a:xfrm>
            <a:off x="6446520" y="4205605"/>
            <a:ext cx="4937760" cy="421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Переключатели «через стенд»: чат, данные, проблемы, решения (ветки fleet)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172200" y="4892040"/>
            <a:ext cx="1645920" cy="1143000"/>
          </a:xfrm>
          <a:prstGeom prst="roundRect">
            <a:avLst>
              <a:gd fmla="val 144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 txBox="1"/>
          <p:nvPr/>
        </p:nvSpPr>
        <p:spPr>
          <a:xfrm>
            <a:off x="6309360" y="498348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~6 500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 txBox="1"/>
          <p:nvPr/>
        </p:nvSpPr>
        <p:spPr>
          <a:xfrm>
            <a:off x="6309360" y="54864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строк Kotlin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7955280" y="4892040"/>
            <a:ext cx="1645920" cy="1143000"/>
          </a:xfrm>
          <a:prstGeom prst="roundRect">
            <a:avLst>
              <a:gd fmla="val 144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 txBox="1"/>
          <p:nvPr/>
        </p:nvSpPr>
        <p:spPr>
          <a:xfrm>
            <a:off x="8092440" y="498348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8092440" y="54864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модульных тестов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9738360" y="4892040"/>
            <a:ext cx="1645920" cy="1143000"/>
          </a:xfrm>
          <a:prstGeom prst="roundRect">
            <a:avLst>
              <a:gd fmla="val 144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 txBox="1"/>
          <p:nvPr/>
        </p:nvSpPr>
        <p:spPr>
          <a:xfrm>
            <a:off x="9875520" y="498348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 txBox="1"/>
          <p:nvPr/>
        </p:nvSpPr>
        <p:spPr>
          <a:xfrm>
            <a:off x="9875520" y="54864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экранов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petrovich/README.md, app/src; строки и тесты посчитаны по ветке fleet/step-4 (в main — ~5 300 строк, 8 тестов)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fmla="val 4348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Чат-бот: Петрович отвечает по данным парка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 txBox="1"/>
          <p:nvPr/>
        </p:nvSpPr>
        <p:spPr>
          <a:xfrm>
            <a:off x="777240" y="1298448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Сделано — шаги 1–4 из 7 (ветки fleet/step-1…4, 07–08.10)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777240" y="1691640"/>
            <a:ext cx="6492240" cy="621792"/>
          </a:xfrm>
          <a:prstGeom prst="roundRect">
            <a:avLst>
              <a:gd fmla="val 2647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 txBox="1"/>
          <p:nvPr/>
        </p:nvSpPr>
        <p:spPr>
          <a:xfrm>
            <a:off x="960120" y="1691640"/>
            <a:ext cx="2103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1. Сквозной чат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 txBox="1"/>
          <p:nvPr/>
        </p:nvSpPr>
        <p:spPr>
          <a:xfrm>
            <a:off x="3063240" y="1691640"/>
            <a:ext cx="4114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приложение → fleet_service → OpenRouter; числа только из данных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777240" y="2404872"/>
            <a:ext cx="6492240" cy="621792"/>
          </a:xfrm>
          <a:prstGeom prst="roundRect">
            <a:avLst>
              <a:gd fmla="val 2647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 txBox="1"/>
          <p:nvPr/>
        </p:nvSpPr>
        <p:spPr>
          <a:xfrm>
            <a:off x="960120" y="2404872"/>
            <a:ext cx="2103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2. Данные парка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 txBox="1"/>
          <p:nvPr/>
        </p:nvSpPr>
        <p:spPr>
          <a:xfrm>
            <a:off x="3063240" y="2404872"/>
            <a:ext cx="4114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сервер сам грузит АвтоГРАФ; list_vehicles, get_vehicle_summary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777240" y="3118104"/>
            <a:ext cx="6492240" cy="621792"/>
          </a:xfrm>
          <a:prstGeom prst="roundRect">
            <a:avLst>
              <a:gd fmla="val 2647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 txBox="1"/>
          <p:nvPr/>
        </p:nvSpPr>
        <p:spPr>
          <a:xfrm>
            <a:off x="960120" y="3118104"/>
            <a:ext cx="2103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3. Поиск проблем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 txBox="1"/>
          <p:nvPr/>
        </p:nvSpPr>
        <p:spPr>
          <a:xfrm>
            <a:off x="3063240" y="3118104"/>
            <a:ext cx="4114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правила перенесены один в один (эталонные тесты); check_vehicle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777240" y="3831336"/>
            <a:ext cx="6492240" cy="621792"/>
          </a:xfrm>
          <a:prstGeom prst="roundRect">
            <a:avLst>
              <a:gd fmla="val 2647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"/>
          <p:cNvSpPr txBox="1"/>
          <p:nvPr/>
        </p:nvSpPr>
        <p:spPr>
          <a:xfrm>
            <a:off x="960120" y="3831336"/>
            <a:ext cx="2103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4. Решения владельца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 txBox="1"/>
          <p:nvPr/>
        </p:nvSpPr>
        <p:spPr>
          <a:xfrm>
            <a:off x="3063240" y="3831336"/>
            <a:ext cx="4114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SQLite, кто и когда решил; list_anomalies, get_anomaly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777240" y="4544568"/>
            <a:ext cx="6492240" cy="621792"/>
          </a:xfrm>
          <a:prstGeom prst="roundRect">
            <a:avLst>
              <a:gd fmla="val 2647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 txBox="1"/>
          <p:nvPr/>
        </p:nvSpPr>
        <p:spPr>
          <a:xfrm>
            <a:off x="960120" y="4544568"/>
            <a:ext cx="2103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В приложении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 txBox="1"/>
          <p:nvPr/>
        </p:nvSpPr>
        <p:spPr>
          <a:xfrm>
            <a:off x="3063240" y="4544568"/>
            <a:ext cx="4114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переключатели «через стенд», чат из карточки события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777240" y="5349240"/>
            <a:ext cx="2057400" cy="731520"/>
          </a:xfrm>
          <a:prstGeom prst="roundRect">
            <a:avLst>
              <a:gd fmla="val 22500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1"/>
          <p:cNvSpPr txBox="1"/>
          <p:nvPr/>
        </p:nvSpPr>
        <p:spPr>
          <a:xfrm>
            <a:off x="914400" y="5349240"/>
            <a:ext cx="868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 txBox="1"/>
          <p:nvPr/>
        </p:nvSpPr>
        <p:spPr>
          <a:xfrm>
            <a:off x="1737360" y="5349240"/>
            <a:ext cx="1051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инструментов у Петровича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2971800" y="5349240"/>
            <a:ext cx="2057400" cy="731520"/>
          </a:xfrm>
          <a:prstGeom prst="roundRect">
            <a:avLst>
              <a:gd fmla="val 22500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 txBox="1"/>
          <p:nvPr/>
        </p:nvSpPr>
        <p:spPr>
          <a:xfrm>
            <a:off x="3108960" y="5349240"/>
            <a:ext cx="868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187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 txBox="1"/>
          <p:nvPr/>
        </p:nvSpPr>
        <p:spPr>
          <a:xfrm>
            <a:off x="3931920" y="5349240"/>
            <a:ext cx="1051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тестов сервера (отчёт: зелёные)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5166360" y="5349240"/>
            <a:ext cx="2057400" cy="731520"/>
          </a:xfrm>
          <a:prstGeom prst="roundRect">
            <a:avLst>
              <a:gd fmla="val 22500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"/>
          <p:cNvSpPr txBox="1"/>
          <p:nvPr/>
        </p:nvSpPr>
        <p:spPr>
          <a:xfrm>
            <a:off x="5303520" y="5349240"/>
            <a:ext cx="868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smoke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 txBox="1"/>
          <p:nvPr/>
        </p:nvSpPr>
        <p:spPr>
          <a:xfrm>
            <a:off x="6126480" y="5349240"/>
            <a:ext cx="1051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проверка всей цепочки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7498080" y="1298448"/>
            <a:ext cx="3886200" cy="2057400"/>
          </a:xfrm>
          <a:prstGeom prst="roundRect">
            <a:avLst>
              <a:gd fmla="val 8000" name="adj"/>
            </a:avLst>
          </a:prstGeom>
          <a:solidFill>
            <a:srgbClr val="FBF0DC"/>
          </a:solidFill>
          <a:ln cap="flat" cmpd="sng" w="12700">
            <a:solidFill>
              <a:srgbClr val="FBF0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 txBox="1"/>
          <p:nvPr/>
        </p:nvSpPr>
        <p:spPr>
          <a:xfrm>
            <a:off x="7680960" y="138988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8A1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98A1B"/>
                </a:solidFill>
                <a:latin typeface="Arial"/>
                <a:ea typeface="Arial"/>
                <a:cs typeface="Arial"/>
                <a:sym typeface="Arial"/>
              </a:rPr>
              <a:t>Спринт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 txBox="1"/>
          <p:nvPr/>
        </p:nvSpPr>
        <p:spPr>
          <a:xfrm>
            <a:off x="7680960" y="1755648"/>
            <a:ext cx="3566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• Фоновая проверка на сервере (шаг 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• Письма в СБ только после «Да» (шаг 6)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• Убрать старый путь на телефоне (шаг 7)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• Влить ветки в 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7498080" y="3474720"/>
            <a:ext cx="3886200" cy="260604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"/>
          <p:cNvSpPr txBox="1"/>
          <p:nvPr/>
        </p:nvSpPr>
        <p:spPr>
          <a:xfrm>
            <a:off x="7680960" y="35661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C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A6CF7"/>
                </a:solidFill>
                <a:latin typeface="Arial"/>
                <a:ea typeface="Arial"/>
                <a:cs typeface="Arial"/>
                <a:sym typeface="Arial"/>
              </a:rPr>
              <a:t>Выбор LLM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 txBox="1"/>
          <p:nvPr/>
        </p:nvSpPr>
        <p:spPr>
          <a:xfrm>
            <a:off x="7680960" y="3931920"/>
            <a:ext cx="35661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Сейчас: </a:t>
            </a:r>
            <a:r>
              <a:rPr b="0" i="0" lang="en-US" sz="11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OpenRouter, модель задаётся настройкой, сбор данных провайдером запрещён</a:t>
            </a:r>
            <a:br>
              <a:rPr b="0" i="0" lang="en-US" sz="11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D2453B"/>
                </a:solidFill>
                <a:latin typeface="Arial"/>
                <a:ea typeface="Arial"/>
                <a:cs typeface="Arial"/>
                <a:sym typeface="Arial"/>
              </a:rPr>
              <a:t>Ограничение: </a:t>
            </a:r>
            <a:r>
              <a:rPr b="0" i="0" lang="en-US" sz="11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в тестах модель подменена — на реальной LLM качество ещё не мерили</a:t>
            </a:r>
            <a:br>
              <a:rPr b="0" i="0" lang="en-US" sz="11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Дальше: </a:t>
            </a:r>
            <a:r>
              <a:rPr b="0" i="0" lang="en-US" sz="11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2–3 модели на 20–30 вопросах: tool calling, русский, скорость, цена, 152-ФЗ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github.com/ErmakovDenis/petrovich, ветки fleet/step-1…4: ml/fleet_service (README, prompts/system.md), ml/fleet-step-4-deviations.md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fmla="val 4348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Обновлённые экраны: 9 макетов, 4 вкладки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777240" y="1261872"/>
            <a:ext cx="1773936" cy="3711245"/>
          </a:xfrm>
          <a:prstGeom prst="roundRect">
            <a:avLst>
              <a:gd fmla="val 8247" name="adj"/>
            </a:avLst>
          </a:prstGeom>
          <a:solidFill>
            <a:srgbClr val="2A2D34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Макет: Главная" id="393" name="Google Shape;3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" y="1316736"/>
            <a:ext cx="1664208" cy="3601517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2"/>
          <p:cNvSpPr txBox="1"/>
          <p:nvPr/>
        </p:nvSpPr>
        <p:spPr>
          <a:xfrm>
            <a:off x="685800" y="5027981"/>
            <a:ext cx="1956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Главная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 txBox="1"/>
          <p:nvPr/>
        </p:nvSpPr>
        <p:spPr>
          <a:xfrm>
            <a:off x="640080" y="5284013"/>
            <a:ext cx="2048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проблемы, статус парка, виджеты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2985516" y="1261872"/>
            <a:ext cx="1773936" cy="3711245"/>
          </a:xfrm>
          <a:prstGeom prst="roundRect">
            <a:avLst>
              <a:gd fmla="val 8247" name="adj"/>
            </a:avLst>
          </a:prstGeom>
          <a:solidFill>
            <a:srgbClr val="2A2D34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Макет: Доклад в 8:00" id="397" name="Google Shape;39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0380" y="1316736"/>
            <a:ext cx="1664208" cy="3601517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2"/>
          <p:cNvSpPr txBox="1"/>
          <p:nvPr/>
        </p:nvSpPr>
        <p:spPr>
          <a:xfrm>
            <a:off x="2894076" y="5027981"/>
            <a:ext cx="1956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Доклад в 8:00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 txBox="1"/>
          <p:nvPr/>
        </p:nvSpPr>
        <p:spPr>
          <a:xfrm>
            <a:off x="2848356" y="5284013"/>
            <a:ext cx="2048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читать или слушать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5193792" y="1261872"/>
            <a:ext cx="1773936" cy="3711245"/>
          </a:xfrm>
          <a:prstGeom prst="roundRect">
            <a:avLst>
              <a:gd fmla="val 8247" name="adj"/>
            </a:avLst>
          </a:prstGeom>
          <a:solidFill>
            <a:srgbClr val="2A2D34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Макет: Карточка события" id="401" name="Google Shape;40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48656" y="1316736"/>
            <a:ext cx="1664208" cy="3601517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2"/>
          <p:cNvSpPr txBox="1"/>
          <p:nvPr/>
        </p:nvSpPr>
        <p:spPr>
          <a:xfrm>
            <a:off x="5102352" y="5027981"/>
            <a:ext cx="1956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Карточка события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 txBox="1"/>
          <p:nvPr/>
        </p:nvSpPr>
        <p:spPr>
          <a:xfrm>
            <a:off x="5056632" y="5284013"/>
            <a:ext cx="2048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график, «Разберись» / «Ложная»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7402068" y="1261872"/>
            <a:ext cx="1773936" cy="3711245"/>
          </a:xfrm>
          <a:prstGeom prst="roundRect">
            <a:avLst>
              <a:gd fmla="val 8247" name="adj"/>
            </a:avLst>
          </a:prstGeom>
          <a:solidFill>
            <a:srgbClr val="2A2D34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Макет: Петрович" id="405" name="Google Shape;40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56932" y="1316736"/>
            <a:ext cx="1664208" cy="3601517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2"/>
          <p:cNvSpPr txBox="1"/>
          <p:nvPr/>
        </p:nvSpPr>
        <p:spPr>
          <a:xfrm>
            <a:off x="7310628" y="5027981"/>
            <a:ext cx="1956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Петрович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 txBox="1"/>
          <p:nvPr/>
        </p:nvSpPr>
        <p:spPr>
          <a:xfrm>
            <a:off x="7264908" y="5284013"/>
            <a:ext cx="2048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голос, коротко, «нет данных»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9610344" y="1261872"/>
            <a:ext cx="1773936" cy="3711245"/>
          </a:xfrm>
          <a:prstGeom prst="roundRect">
            <a:avLst>
              <a:gd fmla="val 8247" name="adj"/>
            </a:avLst>
          </a:prstGeom>
          <a:solidFill>
            <a:srgbClr val="2A2D34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Макет: Письмо в СБ" id="409" name="Google Shape;40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65208" y="1316736"/>
            <a:ext cx="1664208" cy="3601517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2"/>
          <p:cNvSpPr txBox="1"/>
          <p:nvPr/>
        </p:nvSpPr>
        <p:spPr>
          <a:xfrm>
            <a:off x="9518904" y="5027981"/>
            <a:ext cx="1956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Письмо в СБ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 txBox="1"/>
          <p:nvPr/>
        </p:nvSpPr>
        <p:spPr>
          <a:xfrm>
            <a:off x="9473184" y="5284013"/>
            <a:ext cx="2048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черновик, отправка по кнопке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777240" y="5596128"/>
            <a:ext cx="10607040" cy="512064"/>
          </a:xfrm>
          <a:prstGeom prst="roundRect">
            <a:avLst>
              <a:gd fmla="val 3214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"/>
          <p:cNvSpPr txBox="1"/>
          <p:nvPr/>
        </p:nvSpPr>
        <p:spPr>
          <a:xfrm>
            <a:off x="960120" y="5596128"/>
            <a:ext cx="10241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Что изменилось: </a:t>
            </a:r>
            <a:r>
              <a:rPr b="0" i="0" lang="en-US" sz="11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4 вкладки вместо 5 · чат — отдельная вкладка и кнопка «Спросить» · звонок и письмо только после подтверждения · ≤ 3 срочных в день и тихие часы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Макеты «Петрович — мобильное приложение» (Claude Design): 9 экранов + кликабельный прототип; данные на макетах условные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3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fmla="val 4348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Архитектура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777240" y="1371600"/>
            <a:ext cx="2377440" cy="3108960"/>
          </a:xfrm>
          <a:prstGeom prst="roundRect">
            <a:avLst>
              <a:gd fmla="val 692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"/>
          <p:cNvSpPr txBox="1"/>
          <p:nvPr/>
        </p:nvSpPr>
        <p:spPr>
          <a:xfrm>
            <a:off x="914400" y="14630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Android-приложение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 txBox="1"/>
          <p:nvPr/>
        </p:nvSpPr>
        <p:spPr>
          <a:xfrm>
            <a:off x="914400" y="1828800"/>
            <a:ext cx="21488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• 7 экранов (Compose)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• Уведомления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• Кэш ленты без сети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• Переключатели: старый путь или сервер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p13"/>
          <p:cNvCxnSpPr/>
          <p:nvPr/>
        </p:nvCxnSpPr>
        <p:spPr>
          <a:xfrm>
            <a:off x="3200400" y="2926080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4A6CF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6" name="Google Shape;426;p13"/>
          <p:cNvSpPr txBox="1"/>
          <p:nvPr/>
        </p:nvSpPr>
        <p:spPr>
          <a:xfrm>
            <a:off x="3154680" y="26060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HTTPS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3703320" y="1371600"/>
            <a:ext cx="4572000" cy="3108960"/>
          </a:xfrm>
          <a:prstGeom prst="roundRect">
            <a:avLst>
              <a:gd fmla="val 5294" name="adj"/>
            </a:avLst>
          </a:prstGeom>
          <a:solidFill>
            <a:srgbClr val="FFFFFF"/>
          </a:solidFill>
          <a:ln cap="flat" cmpd="sng" w="12700">
            <a:solidFill>
              <a:srgbClr val="4A6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3"/>
          <p:cNvSpPr txBox="1"/>
          <p:nvPr/>
        </p:nvSpPr>
        <p:spPr>
          <a:xfrm>
            <a:off x="3886200" y="146304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CF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4A6CF7"/>
                </a:solidFill>
                <a:latin typeface="Arial"/>
                <a:ea typeface="Arial"/>
                <a:cs typeface="Arial"/>
                <a:sym typeface="Arial"/>
              </a:rPr>
              <a:t>fleet_service (FastAPI)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3886200" y="1874520"/>
            <a:ext cx="2011680" cy="731520"/>
          </a:xfrm>
          <a:prstGeom prst="roundRect">
            <a:avLst>
              <a:gd fmla="val 10000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3"/>
          <p:cNvSpPr txBox="1"/>
          <p:nvPr/>
        </p:nvSpPr>
        <p:spPr>
          <a:xfrm>
            <a:off x="3959352" y="1874520"/>
            <a:ext cx="186537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Агент: LLM + 5 инструментов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6035040" y="1874520"/>
            <a:ext cx="2011680" cy="731520"/>
          </a:xfrm>
          <a:prstGeom prst="roundRect">
            <a:avLst>
              <a:gd fmla="val 10000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"/>
          <p:cNvSpPr txBox="1"/>
          <p:nvPr/>
        </p:nvSpPr>
        <p:spPr>
          <a:xfrm>
            <a:off x="6108192" y="1874520"/>
            <a:ext cx="186537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Данные АвтоГРАФ + кэш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3886200" y="2715768"/>
            <a:ext cx="2011680" cy="731520"/>
          </a:xfrm>
          <a:prstGeom prst="roundRect">
            <a:avLst>
              <a:gd fmla="val 10000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3"/>
          <p:cNvSpPr txBox="1"/>
          <p:nvPr/>
        </p:nvSpPr>
        <p:spPr>
          <a:xfrm>
            <a:off x="3959352" y="2715768"/>
            <a:ext cx="186537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Правила поиска проблем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6035040" y="2715768"/>
            <a:ext cx="2011680" cy="731520"/>
          </a:xfrm>
          <a:prstGeom prst="roundRect">
            <a:avLst>
              <a:gd fmla="val 10000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 txBox="1"/>
          <p:nvPr/>
        </p:nvSpPr>
        <p:spPr>
          <a:xfrm>
            <a:off x="6108192" y="2715768"/>
            <a:ext cx="186537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Хранилище решений (SQLite)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3886200" y="3557016"/>
            <a:ext cx="2011680" cy="731520"/>
          </a:xfrm>
          <a:prstGeom prst="roundRect">
            <a:avLst>
              <a:gd fmla="val 10000" name="adj"/>
            </a:avLst>
          </a:prstGeom>
          <a:solidFill>
            <a:srgbClr val="F1F1F2"/>
          </a:solidFill>
          <a:ln cap="flat" cmpd="sng" w="12700">
            <a:solidFill>
              <a:srgbClr val="B5BBC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3"/>
          <p:cNvSpPr txBox="1"/>
          <p:nvPr/>
        </p:nvSpPr>
        <p:spPr>
          <a:xfrm>
            <a:off x="3959352" y="3557016"/>
            <a:ext cx="186537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Фоновая проверка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6035040" y="3557016"/>
            <a:ext cx="2011680" cy="731520"/>
          </a:xfrm>
          <a:prstGeom prst="roundRect">
            <a:avLst>
              <a:gd fmla="val 10000" name="adj"/>
            </a:avLst>
          </a:prstGeom>
          <a:solidFill>
            <a:srgbClr val="F1F1F2"/>
          </a:solidFill>
          <a:ln cap="flat" cmpd="sng" w="12700">
            <a:solidFill>
              <a:srgbClr val="B5BBC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 txBox="1"/>
          <p:nvPr/>
        </p:nvSpPr>
        <p:spPr>
          <a:xfrm>
            <a:off x="6108192" y="3557016"/>
            <a:ext cx="186537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Письма в СБ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1" name="Google Shape;441;p13"/>
          <p:cNvCxnSpPr/>
          <p:nvPr/>
        </p:nvCxnSpPr>
        <p:spPr>
          <a:xfrm>
            <a:off x="8321040" y="2926080"/>
            <a:ext cx="411480" cy="0"/>
          </a:xfrm>
          <a:prstGeom prst="straightConnector1">
            <a:avLst/>
          </a:prstGeom>
          <a:noFill/>
          <a:ln cap="flat" cmpd="sng" w="22225">
            <a:solidFill>
              <a:srgbClr val="4A6CF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2" name="Google Shape;442;p13"/>
          <p:cNvSpPr/>
          <p:nvPr/>
        </p:nvSpPr>
        <p:spPr>
          <a:xfrm>
            <a:off x="8778240" y="1371600"/>
            <a:ext cx="2606040" cy="950976"/>
          </a:xfrm>
          <a:prstGeom prst="roundRect">
            <a:avLst>
              <a:gd fmla="val 1730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3"/>
          <p:cNvSpPr txBox="1"/>
          <p:nvPr/>
        </p:nvSpPr>
        <p:spPr>
          <a:xfrm>
            <a:off x="8961120" y="148132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API АвтоГРАФ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 txBox="1"/>
          <p:nvPr/>
        </p:nvSpPr>
        <p:spPr>
          <a:xfrm>
            <a:off x="8961120" y="184708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данные парка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8778240" y="2450592"/>
            <a:ext cx="2606040" cy="950976"/>
          </a:xfrm>
          <a:prstGeom prst="roundRect">
            <a:avLst>
              <a:gd fmla="val 1730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3"/>
          <p:cNvSpPr txBox="1"/>
          <p:nvPr/>
        </p:nvSpPr>
        <p:spPr>
          <a:xfrm>
            <a:off x="8961120" y="256032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OpenRouter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 txBox="1"/>
          <p:nvPr/>
        </p:nvSpPr>
        <p:spPr>
          <a:xfrm>
            <a:off x="8961120" y="2926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8778240" y="3529584"/>
            <a:ext cx="2606040" cy="950976"/>
          </a:xfrm>
          <a:prstGeom prst="roundRect">
            <a:avLst>
              <a:gd fmla="val 1730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3"/>
          <p:cNvSpPr txBox="1"/>
          <p:nvPr/>
        </p:nvSpPr>
        <p:spPr>
          <a:xfrm>
            <a:off x="8961120" y="363931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SMTP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 txBox="1"/>
          <p:nvPr/>
        </p:nvSpPr>
        <p:spPr>
          <a:xfrm>
            <a:off x="8961120" y="400507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письма в СБ (план)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777240" y="4663440"/>
            <a:ext cx="457200" cy="274320"/>
          </a:xfrm>
          <a:prstGeom prst="roundRect">
            <a:avLst>
              <a:gd fmla="val 20000" name="adj"/>
            </a:avLst>
          </a:prstGeom>
          <a:solidFill>
            <a:srgbClr val="E3F1E8"/>
          </a:solidFill>
          <a:ln cap="flat" cmpd="sng" w="12700">
            <a:solidFill>
              <a:srgbClr val="E3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3"/>
          <p:cNvSpPr txBox="1"/>
          <p:nvPr/>
        </p:nvSpPr>
        <p:spPr>
          <a:xfrm>
            <a:off x="1325880" y="464515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сделано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2377440" y="4663440"/>
            <a:ext cx="457200" cy="274320"/>
          </a:xfrm>
          <a:prstGeom prst="roundRect">
            <a:avLst>
              <a:gd fmla="val 20000" name="adj"/>
            </a:avLst>
          </a:prstGeom>
          <a:solidFill>
            <a:srgbClr val="F1F1F2"/>
          </a:solidFill>
          <a:ln cap="flat" cmpd="sng" w="12700">
            <a:solidFill>
              <a:srgbClr val="B5BBC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3"/>
          <p:cNvSpPr txBox="1"/>
          <p:nvPr/>
        </p:nvSpPr>
        <p:spPr>
          <a:xfrm>
            <a:off x="2926080" y="4645152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план (шаги 5–7)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 txBox="1"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Почему сервер: </a:t>
            </a:r>
            <a:r>
              <a:rPr b="0" i="0" lang="en-US" sz="125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ключи LLM и почты нельзя хранить в приложении · цифры в чате и на экранах считает один код · доклады по расписанию невозможны, пока данные живут на телефоне.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ml/docs/assistant-server-plan.md, ветки fleet/step-1…4; сделанное ещё не влито в main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4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fmla="val 4348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4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Стек и почему так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4" name="Google Shape;464;p14"/>
          <p:cNvGraphicFramePr/>
          <p:nvPr/>
        </p:nvGraphicFramePr>
        <p:xfrm>
          <a:off x="7772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{438DB6C8-1CD0-481D-BF0D-E1EA620C3BA8}</a:tableStyleId>
              </a:tblPr>
              <a:tblGrid>
                <a:gridCol w="1828800"/>
                <a:gridCol w="4206250"/>
                <a:gridCol w="457200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Слой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Выбор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Почему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Клиент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Kotlin, Jetpack Compose (Material 3)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Основная аудитория на Android; нативный UI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Фон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WorkManager: каждые 15 мин, окно 3 ч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Переживает перезапуск, экономит батарею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Сеть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Retrofit + kotlinx.serialization, потоковый JsonReader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 МБ JSON в сутки на машину без падений по памяти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Сервер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Python, FastAPI, SQLite + SQLAlchemy, Alembic, Docker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Чат, данные, проблемы, решения в одном месте; итоги сверены с приложением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LLM-ассистент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OpenRouter, tool calling; модель — настройкой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Числа считают tools, модель только объясняет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Веб-MVP и чат-бот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PostgreSQL, REST (Swagger), Chart.js, 2ГИС, Telegram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Кабинет аналитика и утренний доклад в Telegram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Интеграция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JSON API АвтоГРАФ: 5 методов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F21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Источник данных заказчика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5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fmla="val 4348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5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Задачи на 2 спринт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777240" y="1298448"/>
            <a:ext cx="10607040" cy="502920"/>
          </a:xfrm>
          <a:prstGeom prst="roundRect">
            <a:avLst>
              <a:gd fmla="val 32727" name="adj"/>
            </a:avLst>
          </a:prstGeom>
          <a:solidFill>
            <a:srgbClr val="2A2D34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5"/>
          <p:cNvSpPr txBox="1"/>
          <p:nvPr/>
        </p:nvSpPr>
        <p:spPr>
          <a:xfrm>
            <a:off x="960120" y="1298448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9C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B8D9C5"/>
                </a:solidFill>
                <a:latin typeface="Arial"/>
                <a:ea typeface="Arial"/>
                <a:cs typeface="Arial"/>
                <a:sym typeface="Arial"/>
              </a:rPr>
              <a:t>Цель спринта: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Петрович отвечает владельцу по реальным данным, и мы проверяем это на людях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777240" y="1965960"/>
            <a:ext cx="3438144" cy="4069080"/>
          </a:xfrm>
          <a:prstGeom prst="roundRect">
            <a:avLst>
              <a:gd fmla="val 478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5"/>
          <p:cNvSpPr txBox="1"/>
          <p:nvPr/>
        </p:nvSpPr>
        <p:spPr>
          <a:xfrm>
            <a:off x="978408" y="21031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Продукт и аналитика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941832" y="2606040"/>
            <a:ext cx="3108960" cy="731520"/>
          </a:xfrm>
          <a:prstGeom prst="roundRect">
            <a:avLst>
              <a:gd fmla="val 15000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"/>
          <p:cNvSpPr txBox="1"/>
          <p:nvPr/>
        </p:nvSpPr>
        <p:spPr>
          <a:xfrm>
            <a:off x="1051560" y="260604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 txBox="1"/>
          <p:nvPr/>
        </p:nvSpPr>
        <p:spPr>
          <a:xfrm>
            <a:off x="1344168" y="2606040"/>
            <a:ext cx="2633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Юзабилити-тест на макете: 5 участников (П1–П3)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941832" y="3447288"/>
            <a:ext cx="3108960" cy="731520"/>
          </a:xfrm>
          <a:prstGeom prst="roundRect">
            <a:avLst>
              <a:gd fmla="val 15000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"/>
          <p:cNvSpPr txBox="1"/>
          <p:nvPr/>
        </p:nvSpPr>
        <p:spPr>
          <a:xfrm>
            <a:off x="1051560" y="3447288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 txBox="1"/>
          <p:nvPr/>
        </p:nvSpPr>
        <p:spPr>
          <a:xfrm>
            <a:off x="1344168" y="3447288"/>
            <a:ext cx="2633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Интервью с заказчиком: письма и звонок в СБ (П5)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941832" y="4288536"/>
            <a:ext cx="3108960" cy="731520"/>
          </a:xfrm>
          <a:prstGeom prst="roundRect">
            <a:avLst>
              <a:gd fmla="val 15000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5"/>
          <p:cNvSpPr txBox="1"/>
          <p:nvPr/>
        </p:nvSpPr>
        <p:spPr>
          <a:xfrm>
            <a:off x="1051560" y="4288536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 txBox="1"/>
          <p:nvPr/>
        </p:nvSpPr>
        <p:spPr>
          <a:xfrm>
            <a:off x="1344168" y="4288536"/>
            <a:ext cx="2633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Решить: рубли или литры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941832" y="5129784"/>
            <a:ext cx="3108960" cy="731520"/>
          </a:xfrm>
          <a:prstGeom prst="roundRect">
            <a:avLst>
              <a:gd fmla="val 15000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5"/>
          <p:cNvSpPr txBox="1"/>
          <p:nvPr/>
        </p:nvSpPr>
        <p:spPr>
          <a:xfrm>
            <a:off x="1051560" y="5129784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F8F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 txBox="1"/>
          <p:nvPr/>
        </p:nvSpPr>
        <p:spPr>
          <a:xfrm>
            <a:off x="1344168" y="5129784"/>
            <a:ext cx="2633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Набор 20–30 тестовых вопросов для чат-бота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4361688" y="1965960"/>
            <a:ext cx="3438144" cy="4069080"/>
          </a:xfrm>
          <a:prstGeom prst="roundRect">
            <a:avLst>
              <a:gd fmla="val 478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5"/>
          <p:cNvSpPr txBox="1"/>
          <p:nvPr/>
        </p:nvSpPr>
        <p:spPr>
          <a:xfrm>
            <a:off x="4562856" y="21031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C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A6CF7"/>
                </a:solidFill>
                <a:latin typeface="Arial"/>
                <a:ea typeface="Arial"/>
                <a:cs typeface="Arial"/>
                <a:sym typeface="Arial"/>
              </a:rPr>
              <a:t>Сервер и чат-бот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4526280" y="2606040"/>
            <a:ext cx="3108960" cy="731520"/>
          </a:xfrm>
          <a:prstGeom prst="roundRect">
            <a:avLst>
              <a:gd fmla="val 15000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5"/>
          <p:cNvSpPr txBox="1"/>
          <p:nvPr/>
        </p:nvSpPr>
        <p:spPr>
          <a:xfrm>
            <a:off x="4636008" y="260604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C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A6CF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 txBox="1"/>
          <p:nvPr/>
        </p:nvSpPr>
        <p:spPr>
          <a:xfrm>
            <a:off x="4928616" y="2606040"/>
            <a:ext cx="2633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Влить ветки fleet/step-1…4 в 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4526280" y="3447288"/>
            <a:ext cx="3108960" cy="731520"/>
          </a:xfrm>
          <a:prstGeom prst="roundRect">
            <a:avLst>
              <a:gd fmla="val 15000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5"/>
          <p:cNvSpPr txBox="1"/>
          <p:nvPr/>
        </p:nvSpPr>
        <p:spPr>
          <a:xfrm>
            <a:off x="4636008" y="3447288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C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A6CF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 txBox="1"/>
          <p:nvPr/>
        </p:nvSpPr>
        <p:spPr>
          <a:xfrm>
            <a:off x="4928616" y="3447288"/>
            <a:ext cx="2633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Фоновая проверка на сервере (шаг 5) — нужно решение по доступу к АвтоГРАФ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4526280" y="4288536"/>
            <a:ext cx="3108960" cy="731520"/>
          </a:xfrm>
          <a:prstGeom prst="roundRect">
            <a:avLst>
              <a:gd fmla="val 15000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5"/>
          <p:cNvSpPr txBox="1"/>
          <p:nvPr/>
        </p:nvSpPr>
        <p:spPr>
          <a:xfrm>
            <a:off x="4636008" y="4288536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C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A6CF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 txBox="1"/>
          <p:nvPr/>
        </p:nvSpPr>
        <p:spPr>
          <a:xfrm>
            <a:off x="4928616" y="4288536"/>
            <a:ext cx="2633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Письма в СБ только после «Да» (шаг 6)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4526280" y="5129784"/>
            <a:ext cx="3108960" cy="731520"/>
          </a:xfrm>
          <a:prstGeom prst="roundRect">
            <a:avLst>
              <a:gd fmla="val 15000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5"/>
          <p:cNvSpPr txBox="1"/>
          <p:nvPr/>
        </p:nvSpPr>
        <p:spPr>
          <a:xfrm>
            <a:off x="4636008" y="5129784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C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A6CF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5"/>
          <p:cNvSpPr txBox="1"/>
          <p:nvPr/>
        </p:nvSpPr>
        <p:spPr>
          <a:xfrm>
            <a:off x="4928616" y="5129784"/>
            <a:ext cx="2633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Выбор LLM на тестовых вопросах + обезличивание (152-ФЗ)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7946136" y="1965960"/>
            <a:ext cx="3438144" cy="4069080"/>
          </a:xfrm>
          <a:prstGeom prst="roundRect">
            <a:avLst>
              <a:gd fmla="val 478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5"/>
          <p:cNvSpPr txBox="1"/>
          <p:nvPr/>
        </p:nvSpPr>
        <p:spPr>
          <a:xfrm>
            <a:off x="8147304" y="21031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4D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E44D9"/>
                </a:solidFill>
                <a:latin typeface="Arial"/>
                <a:ea typeface="Arial"/>
                <a:cs typeface="Arial"/>
                <a:sym typeface="Arial"/>
              </a:rPr>
              <a:t>Приложение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8110728" y="2606040"/>
            <a:ext cx="3108960" cy="731520"/>
          </a:xfrm>
          <a:prstGeom prst="roundRect">
            <a:avLst>
              <a:gd fmla="val 15000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5"/>
          <p:cNvSpPr txBox="1"/>
          <p:nvPr/>
        </p:nvSpPr>
        <p:spPr>
          <a:xfrm>
            <a:off x="8220456" y="260604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4D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E44D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5"/>
          <p:cNvSpPr txBox="1"/>
          <p:nvPr/>
        </p:nvSpPr>
        <p:spPr>
          <a:xfrm>
            <a:off x="8513064" y="2606040"/>
            <a:ext cx="2633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Главная и 4 вкладки по новым макетам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8110728" y="3447288"/>
            <a:ext cx="3108960" cy="731520"/>
          </a:xfrm>
          <a:prstGeom prst="roundRect">
            <a:avLst>
              <a:gd fmla="val 15000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5"/>
          <p:cNvSpPr txBox="1"/>
          <p:nvPr/>
        </p:nvSpPr>
        <p:spPr>
          <a:xfrm>
            <a:off x="8220456" y="3447288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4D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E44D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5"/>
          <p:cNvSpPr txBox="1"/>
          <p:nvPr/>
        </p:nvSpPr>
        <p:spPr>
          <a:xfrm>
            <a:off x="8513064" y="3447288"/>
            <a:ext cx="2633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«Что у меня не так?» и доклад в 8:00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8110728" y="4288536"/>
            <a:ext cx="3108960" cy="731520"/>
          </a:xfrm>
          <a:prstGeom prst="roundRect">
            <a:avLst>
              <a:gd fmla="val 15000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5"/>
          <p:cNvSpPr txBox="1"/>
          <p:nvPr/>
        </p:nvSpPr>
        <p:spPr>
          <a:xfrm>
            <a:off x="8220456" y="4288536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4D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E44D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5"/>
          <p:cNvSpPr txBox="1"/>
          <p:nvPr/>
        </p:nvSpPr>
        <p:spPr>
          <a:xfrm>
            <a:off x="8513064" y="4288536"/>
            <a:ext cx="2633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Голосовой ввод в чате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5"/>
          <p:cNvSpPr/>
          <p:nvPr/>
        </p:nvSpPr>
        <p:spPr>
          <a:xfrm>
            <a:off x="8110728" y="5129784"/>
            <a:ext cx="3108960" cy="731520"/>
          </a:xfrm>
          <a:prstGeom prst="roundRect">
            <a:avLst>
              <a:gd fmla="val 15000" name="adj"/>
            </a:avLst>
          </a:prstGeom>
          <a:solidFill>
            <a:srgbClr val="F1F1F2"/>
          </a:solidFill>
          <a:ln cap="flat" cmpd="sng" w="12700">
            <a:solidFill>
              <a:srgbClr val="F1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5"/>
          <p:cNvSpPr txBox="1"/>
          <p:nvPr/>
        </p:nvSpPr>
        <p:spPr>
          <a:xfrm>
            <a:off x="8220456" y="5129784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4D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E44D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5"/>
          <p:cNvSpPr txBox="1"/>
          <p:nvPr/>
        </p:nvSpPr>
        <p:spPr>
          <a:xfrm>
            <a:off x="8513064" y="5129784"/>
            <a:ext cx="2633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Звонок и письмо с экраном подтверждения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5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ml/docs/assistant-server-plan.md (шаги 5–7), гипотезы и метрики этой презентации, макеты экранов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6"/>
          <p:cNvSpPr txBox="1"/>
          <p:nvPr/>
        </p:nvSpPr>
        <p:spPr>
          <a:xfrm>
            <a:off x="411480" y="4572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Команда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Устинов Алексей" id="523" name="Google Shape;5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371600"/>
            <a:ext cx="2148840" cy="269748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6"/>
          <p:cNvSpPr txBox="1"/>
          <p:nvPr/>
        </p:nvSpPr>
        <p:spPr>
          <a:xfrm>
            <a:off x="411480" y="42062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Устинов Алексей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 txBox="1"/>
          <p:nvPr/>
        </p:nvSpPr>
        <p:spPr>
          <a:xfrm>
            <a:off x="411480" y="45720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Фулстек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Ермаков Денис" id="526" name="Google Shape;5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5768" y="1371600"/>
            <a:ext cx="2148840" cy="269748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6"/>
          <p:cNvSpPr txBox="1"/>
          <p:nvPr/>
        </p:nvSpPr>
        <p:spPr>
          <a:xfrm>
            <a:off x="2715768" y="42062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Ермаков Денис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6"/>
          <p:cNvSpPr txBox="1"/>
          <p:nvPr/>
        </p:nvSpPr>
        <p:spPr>
          <a:xfrm>
            <a:off x="2715768" y="45720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Фулстек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Лысенко Кристина" id="529" name="Google Shape;5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0056" y="1371600"/>
            <a:ext cx="2148840" cy="269748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16"/>
          <p:cNvSpPr txBox="1"/>
          <p:nvPr/>
        </p:nvSpPr>
        <p:spPr>
          <a:xfrm>
            <a:off x="5020056" y="42062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Лысенко Кристина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6"/>
          <p:cNvSpPr txBox="1"/>
          <p:nvPr/>
        </p:nvSpPr>
        <p:spPr>
          <a:xfrm>
            <a:off x="5020056" y="45720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Фронтенд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Резов Дмитрий" id="532" name="Google Shape;5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24344" y="1371600"/>
            <a:ext cx="2148840" cy="269748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6"/>
          <p:cNvSpPr txBox="1"/>
          <p:nvPr/>
        </p:nvSpPr>
        <p:spPr>
          <a:xfrm>
            <a:off x="7324344" y="42062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Резов Дмитрий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 txBox="1"/>
          <p:nvPr/>
        </p:nvSpPr>
        <p:spPr>
          <a:xfrm>
            <a:off x="7324344" y="45720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Мансурова Алина" id="535" name="Google Shape;5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8632" y="1371600"/>
            <a:ext cx="2148840" cy="269748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6"/>
          <p:cNvSpPr txBox="1"/>
          <p:nvPr/>
        </p:nvSpPr>
        <p:spPr>
          <a:xfrm>
            <a:off x="9628632" y="42062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F2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F21"/>
                </a:solidFill>
                <a:latin typeface="Arial"/>
                <a:ea typeface="Arial"/>
                <a:cs typeface="Arial"/>
                <a:sym typeface="Arial"/>
              </a:rPr>
              <a:t>Мансурова Алина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6"/>
          <p:cNvSpPr txBox="1"/>
          <p:nvPr/>
        </p:nvSpPr>
        <p:spPr>
          <a:xfrm>
            <a:off x="9628632" y="45720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E7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6E73"/>
                </a:solidFill>
                <a:latin typeface="Arial"/>
                <a:ea typeface="Arial"/>
                <a:cs typeface="Arial"/>
                <a:sym typeface="Arial"/>
              </a:rPr>
              <a:t>Аналитик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2026-10-08T10:10:47Z</dcterms:created>
  <dc:creator>PptxGenJS</dc:creator>
</cp:coreProperties>
</file>